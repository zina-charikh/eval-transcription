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WER (%)</c:v>
                </c:pt>
              </c:strCache>
            </c:strRef>
          </c:tx>
          <c:spPr>
            <a:solidFill>
              <a:srgbClr val="F59E0B"/>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F59E0B"/>
              </a:solidFill>
              <a:effectLst/>
            </c:spPr>
          </c:dPt>
          <c:dPt>
            <c:idx val="1"/>
            <c:invertIfNegative val="0"/>
            <c:bubble3D val="0"/>
            <c:spPr>
              <a:solidFill>
                <a:srgbClr val="F97316"/>
              </a:solidFill>
              <a:effectLst/>
            </c:spPr>
          </c:dPt>
          <c:dPt>
            <c:idx val="2"/>
            <c:invertIfNegative val="0"/>
            <c:bubble3D val="0"/>
            <c:spPr>
              <a:solidFill>
                <a:srgbClr val="EF4444"/>
              </a:solidFill>
              <a:effectLst/>
            </c:spPr>
          </c:dPt>
          <c:dPt>
            <c:idx val="3"/>
            <c:invertIfNegative val="0"/>
            <c:bubble3D val="0"/>
            <c:spPr>
              <a:solidFill>
                <a:srgbClr val="EF4444"/>
              </a:solidFill>
              <a:effectLst/>
            </c:spPr>
          </c:dPt>
          <c:dPt>
            <c:idx val="4"/>
            <c:invertIfNegative val="0"/>
            <c:bubble3D val="0"/>
            <c:spPr>
              <a:solidFill>
                <a:srgbClr val="EF4444"/>
              </a:solidFill>
              <a:effectLst/>
            </c:spPr>
          </c:dPt>
          <c:dPt>
            <c:idx val="5"/>
            <c:invertIfNegative val="0"/>
            <c:bubble3D val="0"/>
            <c:spPr>
              <a:solidFill>
                <a:srgbClr val="F97316"/>
              </a:solidFill>
              <a:effectLst/>
            </c:spPr>
          </c:dPt>
          <c:dPt>
            <c:idx val="6"/>
            <c:invertIfNegative val="0"/>
            <c:bubble3D val="0"/>
            <c:spPr>
              <a:solidFill>
                <a:srgbClr val="F97316"/>
              </a:solidFill>
              <a:effectLst/>
            </c:spPr>
          </c:dPt>
          <c:dPt>
            <c:idx val="7"/>
            <c:invertIfNegative val="0"/>
            <c:bubble3D val="0"/>
            <c:spPr>
              <a:solidFill>
                <a:srgbClr val="EF4444"/>
              </a:solidFill>
              <a:effectLst/>
            </c:spPr>
          </c:dPt>
          <c:dPt>
            <c:idx val="8"/>
            <c:invertIfNegative val="0"/>
            <c:bubble3D val="0"/>
            <c:spPr>
              <a:solidFill>
                <a:srgbClr val="EF4444"/>
              </a:solidFill>
              <a:effectLst/>
            </c:spPr>
          </c:dPt>
          <c:dPt>
            <c:idx val="9"/>
            <c:invertIfNegative val="0"/>
            <c:bubble3D val="0"/>
            <c:spPr>
              <a:solidFill>
                <a:srgbClr val="10B981"/>
              </a:solidFill>
              <a:effectLst/>
            </c:spPr>
          </c:dPt>
          <c:dPt>
            <c:idx val="10"/>
            <c:invertIfNegative val="0"/>
            <c:bubble3D val="0"/>
            <c:spPr>
              <a:solidFill>
                <a:srgbClr val="F97316"/>
              </a:solidFill>
              <a:effectLst/>
            </c:spPr>
          </c:dPt>
          <c:dPt>
            <c:idx val="11"/>
            <c:invertIfNegative val="0"/>
            <c:bubble3D val="0"/>
            <c:spPr>
              <a:solidFill>
                <a:srgbClr val="F97316"/>
              </a:solidFill>
              <a:effectLst/>
            </c:spPr>
          </c:dPt>
          <c:dPt>
            <c:idx val="12"/>
            <c:invertIfNegative val="0"/>
            <c:bubble3D val="0"/>
            <c:spPr>
              <a:solidFill>
                <a:srgbClr val="EF4444"/>
              </a:solidFill>
              <a:effectLst/>
            </c:spPr>
          </c:dPt>
          <c:dPt>
            <c:idx val="13"/>
            <c:invertIfNegative val="0"/>
            <c:bubble3D val="0"/>
            <c:spPr>
              <a:solidFill>
                <a:srgbClr val="EF4444"/>
              </a:solidFill>
              <a:effectLst/>
            </c:spPr>
          </c:dPt>
          <c:dPt>
            <c:idx val="14"/>
            <c:invertIfNegative val="0"/>
            <c:bubble3D val="0"/>
            <c:spPr>
              <a:solidFill>
                <a:srgbClr val="F59E0B"/>
              </a:solidFill>
              <a:effectLst/>
            </c:spPr>
          </c:dPt>
          <c:dPt>
            <c:idx val="15"/>
            <c:invertIfNegative val="0"/>
            <c:bubble3D val="0"/>
            <c:spPr>
              <a:solidFill>
                <a:srgbClr val="F97316"/>
              </a:solidFill>
              <a:effectLst/>
            </c:spPr>
          </c:dPt>
          <c:dPt>
            <c:idx val="16"/>
            <c:invertIfNegative val="0"/>
            <c:bubble3D val="0"/>
            <c:spPr>
              <a:solidFill>
                <a:srgbClr val="EF4444"/>
              </a:solidFill>
              <a:effectLst/>
            </c:spPr>
          </c:dPt>
          <c:dPt>
            <c:idx val="17"/>
            <c:invertIfNegative val="0"/>
            <c:bubble3D val="0"/>
            <c:spPr>
              <a:solidFill>
                <a:srgbClr val="F59E0B"/>
              </a:solidFill>
              <a:effectLst/>
            </c:spPr>
          </c:dPt>
          <c:dPt>
            <c:idx val="18"/>
            <c:invertIfNegative val="0"/>
            <c:bubble3D val="0"/>
            <c:spPr>
              <a:solidFill>
                <a:srgbClr val="10B981"/>
              </a:solidFill>
              <a:effectLst/>
            </c:spPr>
          </c:dPt>
          <c:cat>
            <c:multiLvlStrRef>
              <c:f>Sheet1!$A$2:$A$20</c:f>
              <c:multiLvlStrCache>
                <c:ptCount val="19"/>
                <c:lvl>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S17</c:v>
                  </c:pt>
                  <c:pt idx="17">
                    <c:v>S18</c:v>
                  </c:pt>
                  <c:pt idx="18">
                    <c:v>S19</c:v>
                  </c:pt>
                </c:lvl>
              </c:multiLvlStrCache>
            </c:multiLvlStrRef>
          </c:cat>
          <c:val>
            <c:numRef>
              <c:f>Sheet1!$B$2:$B$20</c:f>
              <c:numCache>
                <c:formatCode>General</c:formatCode>
                <c:ptCount val="19"/>
                <c:pt idx="0">
                  <c:v>6.2</c:v>
                </c:pt>
                <c:pt idx="1">
                  <c:v>12.5</c:v>
                </c:pt>
                <c:pt idx="2">
                  <c:v>25</c:v>
                </c:pt>
                <c:pt idx="3">
                  <c:v>33.3</c:v>
                </c:pt>
                <c:pt idx="4">
                  <c:v>58.3</c:v>
                </c:pt>
                <c:pt idx="5">
                  <c:v>23.5</c:v>
                </c:pt>
                <c:pt idx="6">
                  <c:v>10</c:v>
                </c:pt>
                <c:pt idx="7">
                  <c:v>35</c:v>
                </c:pt>
                <c:pt idx="8">
                  <c:v>37</c:v>
                </c:pt>
                <c:pt idx="9">
                  <c:v>0</c:v>
                </c:pt>
                <c:pt idx="10">
                  <c:v>14.3</c:v>
                </c:pt>
                <c:pt idx="11">
                  <c:v>21.4</c:v>
                </c:pt>
                <c:pt idx="12">
                  <c:v>47.1</c:v>
                </c:pt>
                <c:pt idx="13">
                  <c:v>40</c:v>
                </c:pt>
                <c:pt idx="14">
                  <c:v>8.3</c:v>
                </c:pt>
                <c:pt idx="15">
                  <c:v>14.3</c:v>
                </c:pt>
                <c:pt idx="16">
                  <c:v>40</c:v>
                </c:pt>
                <c:pt idx="17">
                  <c:v>6.7</c:v>
                </c:pt>
                <c:pt idx="18">
                  <c:v>0</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0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A202C"/>
                </a:solidFill>
                <a:latin typeface="Arial"/>
              </a:defRPr>
            </a:pPr>
            <a:endParaRPr lang="en-US"/>
          </a:p>
        </c:txPr>
        <c:crossAx val="2094734554"/>
        <c:crosses val="autoZero"/>
        <c:crossBetween val="between"/>
      </c:valAx>
      <c:spPr>
        <a:solidFill>
          <a:srgbClr val="F4F6FA"/>
        </a:solidFill>
        <a:ln>
          <a:noFill/>
        </a:ln>
        <a:effectLst/>
      </c:spPr>
    </c:plotArea>
    <c:plotVisOnly val="1"/>
    <c:dispBlanksAs val="span"/>
  </c:chart>
  <c:spPr>
    <a:solidFill>
      <a:srgbClr val="F4F6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Whisper base</c:v>
                </c:pt>
              </c:strCache>
            </c:strRef>
          </c:tx>
          <c:spPr>
            <a:solidFill>
              <a:srgbClr val="0EA5E9"/>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WER global</c:v>
                  </c:pt>
                  <c:pt idx="1">
                    <c:v>CER global</c:v>
                  </c:pt>
                </c:lvl>
              </c:multiLvlStrCache>
            </c:multiLvlStrRef>
          </c:cat>
          <c:val>
            <c:numRef>
              <c:f>Sheet1!$B$2:$B$3</c:f>
              <c:numCache>
                <c:formatCode>General</c:formatCode>
                <c:ptCount val="2"/>
                <c:pt idx="0">
                  <c:v>22.8</c:v>
                </c:pt>
                <c:pt idx="1">
                  <c:v>8.8</c:v>
                </c:pt>
              </c:numCache>
            </c:numRef>
          </c:val>
        </c:ser>
        <c:ser>
          <c:idx val="1"/>
          <c:order val="1"/>
          <c:tx>
            <c:strRef>
              <c:f>Sheet1!$C$1</c:f>
              <c:strCache>
                <c:ptCount val="1"/>
                <c:pt idx="0">
                  <c:v>CC YouTube</c:v>
                </c:pt>
              </c:strCache>
            </c:strRef>
          </c:tx>
          <c:spPr>
            <a:solidFill>
              <a:srgbClr val="10B981"/>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WER global</c:v>
                  </c:pt>
                  <c:pt idx="1">
                    <c:v>CER global</c:v>
                  </c:pt>
                </c:lvl>
              </c:multiLvlStrCache>
            </c:multiLvlStrRef>
          </c:cat>
          <c:val>
            <c:numRef>
              <c:f>Sheet1!$C$2:$C$3</c:f>
              <c:numCache>
                <c:formatCode>General</c:formatCode>
                <c:ptCount val="2"/>
                <c:pt idx="0">
                  <c:v>7.2</c:v>
                </c:pt>
                <c:pt idx="1">
                  <c:v>2.8</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0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A202C"/>
                </a:solidFill>
                <a:latin typeface="Arial"/>
              </a:defRPr>
            </a:pPr>
            <a:endParaRPr lang="en-US"/>
          </a:p>
        </c:txPr>
        <c:crossAx val="2094734554"/>
        <c:crosses val="autoZero"/>
        <c:crossBetween val="between"/>
      </c:valAx>
      <c:spPr>
        <a:solidFill>
          <a:srgbClr val="F4F6FA"/>
        </a:solidFill>
        <a:ln>
          <a:noFill/>
        </a:ln>
        <a:effectLst/>
      </c:spPr>
    </c:plotArea>
    <c:legend>
      <c:legendPos val="t"/>
      <c:overlay val="0"/>
      <c:txPr>
        <a:bodyPr/>
        <a:lstStyle/>
        <a:p>
          <a:pPr>
            <a:defRPr sz="1000">      </a:defRPr>
          </a:pPr>
          <a:endParaRPr lang="en-US"/>
        </a:p>
      </c:txPr>
    </c:legend>
    <c:plotVisOnly val="1"/>
    <c:dispBlanksAs val="span"/>
  </c:chart>
  <c:spPr>
    <a:solidFill>
      <a:srgbClr val="F4F6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EA5E9"/>
          </a:solidFill>
          <a:ln/>
        </p:spPr>
      </p:sp>
      <p:sp>
        <p:nvSpPr>
          <p:cNvPr id="3" name="Text 1"/>
          <p:cNvSpPr/>
          <p:nvPr/>
        </p:nvSpPr>
        <p:spPr>
          <a:xfrm>
            <a:off x="548640" y="548640"/>
            <a:ext cx="8229600" cy="1280160"/>
          </a:xfrm>
          <a:prstGeom prst="rect">
            <a:avLst/>
          </a:prstGeom>
          <a:noFill/>
          <a:ln/>
        </p:spPr>
        <p:txBody>
          <a:bodyPr wrap="square" rtlCol="0" anchor="ctr"/>
          <a:lstStyle/>
          <a:p>
            <a:pPr indent="0" marL="0">
              <a:buNone/>
            </a:pPr>
            <a:r>
              <a:rPr lang="en-US" sz="6000" b="1" dirty="0">
                <a:solidFill>
                  <a:srgbClr val="1E3A5F"/>
                </a:solidFill>
                <a:latin typeface="Arial Black" pitchFamily="34" charset="0"/>
                <a:ea typeface="Arial Black" pitchFamily="34" charset="-122"/>
                <a:cs typeface="Arial Black" pitchFamily="34" charset="-120"/>
              </a:rPr>
              <a:t>SubQuality</a:t>
            </a:r>
            <a:endParaRPr lang="en-US" sz="6000" dirty="0"/>
          </a:p>
        </p:txBody>
      </p:sp>
      <p:sp>
        <p:nvSpPr>
          <p:cNvPr id="4" name="Text 2"/>
          <p:cNvSpPr/>
          <p:nvPr/>
        </p:nvSpPr>
        <p:spPr>
          <a:xfrm>
            <a:off x="548640" y="1783080"/>
            <a:ext cx="8229600" cy="594360"/>
          </a:xfrm>
          <a:prstGeom prst="rect">
            <a:avLst/>
          </a:prstGeom>
          <a:noFill/>
          <a:ln/>
        </p:spPr>
        <p:txBody>
          <a:bodyPr wrap="square" rtlCol="0" anchor="ctr"/>
          <a:lstStyle/>
          <a:p>
            <a:pPr indent="0" marL="0">
              <a:buNone/>
            </a:pPr>
            <a:r>
              <a:rPr lang="en-US" sz="2000" dirty="0">
                <a:solidFill>
                  <a:srgbClr val="64748B"/>
                </a:solidFill>
                <a:latin typeface="Arial" pitchFamily="34" charset="0"/>
                <a:ea typeface="Arial" pitchFamily="34" charset="-122"/>
                <a:cs typeface="Arial" pitchFamily="34" charset="-120"/>
              </a:rPr>
              <a:t>Analyse automatique de la qualité des sous-titres</a:t>
            </a:r>
            <a:endParaRPr lang="en-US" sz="2000" dirty="0"/>
          </a:p>
        </p:txBody>
      </p:sp>
      <p:sp>
        <p:nvSpPr>
          <p:cNvPr id="5" name="Shape 3"/>
          <p:cNvSpPr/>
          <p:nvPr/>
        </p:nvSpPr>
        <p:spPr>
          <a:xfrm>
            <a:off x="548640" y="2468880"/>
            <a:ext cx="7772400" cy="36576"/>
          </a:xfrm>
          <a:prstGeom prst="rect">
            <a:avLst/>
          </a:prstGeom>
          <a:solidFill>
            <a:srgbClr val="E2E8F0"/>
          </a:solidFill>
          <a:ln/>
        </p:spPr>
      </p:sp>
      <p:sp>
        <p:nvSpPr>
          <p:cNvPr id="6" name="Text 4"/>
          <p:cNvSpPr/>
          <p:nvPr/>
        </p:nvSpPr>
        <p:spPr>
          <a:xfrm>
            <a:off x="548640" y="2606040"/>
            <a:ext cx="8229600" cy="411480"/>
          </a:xfrm>
          <a:prstGeom prst="rect">
            <a:avLst/>
          </a:prstGeom>
          <a:noFill/>
          <a:ln/>
        </p:spPr>
        <p:txBody>
          <a:bodyPr wrap="square" rtlCol="0" anchor="ctr"/>
          <a:lstStyle/>
          <a:p>
            <a:pPr indent="0" marL="0">
              <a:buNone/>
            </a:pPr>
            <a:r>
              <a:rPr lang="en-US" sz="1400" i="1" dirty="0">
                <a:solidFill>
                  <a:srgbClr val="0EA5E9"/>
                </a:solidFill>
                <a:latin typeface="Arial" pitchFamily="34" charset="0"/>
                <a:ea typeface="Arial" pitchFamily="34" charset="-122"/>
                <a:cs typeface="Arial" pitchFamily="34" charset="-120"/>
              </a:rPr>
              <a:t>France 24  ×  Whisper (OpenAI)  ×  CC YouTube  ×  Wildmoka</a:t>
            </a:r>
            <a:endParaRPr lang="en-US" sz="1400" dirty="0"/>
          </a:p>
        </p:txBody>
      </p:sp>
      <p:sp>
        <p:nvSpPr>
          <p:cNvPr id="7" name="Shape 5"/>
          <p:cNvSpPr/>
          <p:nvPr/>
        </p:nvSpPr>
        <p:spPr>
          <a:xfrm>
            <a:off x="502920" y="3154680"/>
            <a:ext cx="1965960" cy="1600200"/>
          </a:xfrm>
          <a:prstGeom prst="rect">
            <a:avLst/>
          </a:prstGeom>
          <a:solidFill>
            <a:srgbClr val="F4F6FA"/>
          </a:solidFill>
          <a:ln w="12700">
            <a:solidFill>
              <a:srgbClr val="0EA5E9"/>
            </a:solidFill>
            <a:prstDash val="solid"/>
          </a:ln>
          <a:effectLst>
            <a:outerShdw sx="100000" sy="100000" kx="0" ky="0" algn="bl" rotWithShape="0" blurRad="50800" dist="25400" dir="2700000">
              <a:srgbClr val="C0C0C0">
                <a:alpha val="75000"/>
              </a:srgbClr>
            </a:outerShdw>
          </a:effectLst>
        </p:spPr>
      </p:sp>
      <p:sp>
        <p:nvSpPr>
          <p:cNvPr id="8" name="Text 6"/>
          <p:cNvSpPr/>
          <p:nvPr/>
        </p:nvSpPr>
        <p:spPr>
          <a:xfrm>
            <a:off x="502920" y="3227832"/>
            <a:ext cx="1965960" cy="880110"/>
          </a:xfrm>
          <a:prstGeom prst="rect">
            <a:avLst/>
          </a:prstGeom>
          <a:noFill/>
          <a:ln/>
        </p:spPr>
        <p:txBody>
          <a:bodyPr wrap="square" rtlCol="0" anchor="ctr"/>
          <a:lstStyle/>
          <a:p>
            <a:pPr algn="ctr" indent="0" marL="0">
              <a:buNone/>
            </a:pPr>
            <a:r>
              <a:rPr lang="en-US" sz="2800" b="1" dirty="0">
                <a:solidFill>
                  <a:srgbClr val="0EA5E9"/>
                </a:solidFill>
                <a:latin typeface="Arial Black" pitchFamily="34" charset="0"/>
                <a:ea typeface="Arial Black" pitchFamily="34" charset="-122"/>
                <a:cs typeface="Arial Black" pitchFamily="34" charset="-120"/>
              </a:rPr>
              <a:t>22.8%</a:t>
            </a:r>
            <a:endParaRPr lang="en-US" sz="2800" dirty="0"/>
          </a:p>
        </p:txBody>
      </p:sp>
      <p:sp>
        <p:nvSpPr>
          <p:cNvPr id="9" name="Text 7"/>
          <p:cNvSpPr/>
          <p:nvPr/>
        </p:nvSpPr>
        <p:spPr>
          <a:xfrm>
            <a:off x="502920" y="4146804"/>
            <a:ext cx="1965960" cy="56007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WER Whisper</a:t>
            </a:r>
            <a:endParaRPr lang="en-US" sz="1000" dirty="0"/>
          </a:p>
        </p:txBody>
      </p:sp>
      <p:sp>
        <p:nvSpPr>
          <p:cNvPr id="10" name="Shape 8"/>
          <p:cNvSpPr/>
          <p:nvPr/>
        </p:nvSpPr>
        <p:spPr>
          <a:xfrm>
            <a:off x="2651760" y="3154680"/>
            <a:ext cx="1965960" cy="1600200"/>
          </a:xfrm>
          <a:prstGeom prst="rect">
            <a:avLst/>
          </a:prstGeom>
          <a:solidFill>
            <a:srgbClr val="F4F6FA"/>
          </a:solidFill>
          <a:ln w="12700">
            <a:solidFill>
              <a:srgbClr val="10B981"/>
            </a:solidFill>
            <a:prstDash val="solid"/>
          </a:ln>
          <a:effectLst>
            <a:outerShdw sx="100000" sy="100000" kx="0" ky="0" algn="bl" rotWithShape="0" blurRad="50800" dist="25400" dir="2700000">
              <a:srgbClr val="C0C0C0">
                <a:alpha val="75000"/>
              </a:srgbClr>
            </a:outerShdw>
          </a:effectLst>
        </p:spPr>
      </p:sp>
      <p:sp>
        <p:nvSpPr>
          <p:cNvPr id="11" name="Text 9"/>
          <p:cNvSpPr/>
          <p:nvPr/>
        </p:nvSpPr>
        <p:spPr>
          <a:xfrm>
            <a:off x="2651760" y="3227832"/>
            <a:ext cx="1965960" cy="880110"/>
          </a:xfrm>
          <a:prstGeom prst="rect">
            <a:avLst/>
          </a:prstGeom>
          <a:noFill/>
          <a:ln/>
        </p:spPr>
        <p:txBody>
          <a:bodyPr wrap="square" rtlCol="0" anchor="ctr"/>
          <a:lstStyle/>
          <a:p>
            <a:pPr algn="ctr" indent="0" marL="0">
              <a:buNone/>
            </a:pPr>
            <a:r>
              <a:rPr lang="en-US" sz="2800" b="1" dirty="0">
                <a:solidFill>
                  <a:srgbClr val="10B981"/>
                </a:solidFill>
                <a:latin typeface="Arial Black" pitchFamily="34" charset="0"/>
                <a:ea typeface="Arial Black" pitchFamily="34" charset="-122"/>
                <a:cs typeface="Arial Black" pitchFamily="34" charset="-120"/>
              </a:rPr>
              <a:t>7.2%</a:t>
            </a:r>
            <a:endParaRPr lang="en-US" sz="2800" dirty="0"/>
          </a:p>
        </p:txBody>
      </p:sp>
      <p:sp>
        <p:nvSpPr>
          <p:cNvPr id="12" name="Text 10"/>
          <p:cNvSpPr/>
          <p:nvPr/>
        </p:nvSpPr>
        <p:spPr>
          <a:xfrm>
            <a:off x="2651760" y="4146804"/>
            <a:ext cx="1965960" cy="56007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WER CC YouTube</a:t>
            </a:r>
            <a:endParaRPr lang="en-US" sz="1000" dirty="0"/>
          </a:p>
        </p:txBody>
      </p:sp>
      <p:sp>
        <p:nvSpPr>
          <p:cNvPr id="13" name="Shape 11"/>
          <p:cNvSpPr/>
          <p:nvPr/>
        </p:nvSpPr>
        <p:spPr>
          <a:xfrm>
            <a:off x="4800600" y="3154680"/>
            <a:ext cx="1965960" cy="1600200"/>
          </a:xfrm>
          <a:prstGeom prst="rect">
            <a:avLst/>
          </a:prstGeom>
          <a:solidFill>
            <a:srgbClr val="F4F6FA"/>
          </a:solidFill>
          <a:ln w="12700">
            <a:solidFill>
              <a:srgbClr val="EF4444"/>
            </a:solidFill>
            <a:prstDash val="solid"/>
          </a:ln>
          <a:effectLst>
            <a:outerShdw sx="100000" sy="100000" kx="0" ky="0" algn="bl" rotWithShape="0" blurRad="50800" dist="25400" dir="2700000">
              <a:srgbClr val="C0C0C0">
                <a:alpha val="75000"/>
              </a:srgbClr>
            </a:outerShdw>
          </a:effectLst>
        </p:spPr>
      </p:sp>
      <p:sp>
        <p:nvSpPr>
          <p:cNvPr id="14" name="Text 12"/>
          <p:cNvSpPr/>
          <p:nvPr/>
        </p:nvSpPr>
        <p:spPr>
          <a:xfrm>
            <a:off x="4800600" y="3227832"/>
            <a:ext cx="1965960" cy="880110"/>
          </a:xfrm>
          <a:prstGeom prst="rect">
            <a:avLst/>
          </a:prstGeom>
          <a:noFill/>
          <a:ln/>
        </p:spPr>
        <p:txBody>
          <a:bodyPr wrap="square" rtlCol="0" anchor="ctr"/>
          <a:lstStyle/>
          <a:p>
            <a:pPr algn="ctr" indent="0" marL="0">
              <a:buNone/>
            </a:pPr>
            <a:r>
              <a:rPr lang="en-US" sz="2800" b="1" dirty="0">
                <a:solidFill>
                  <a:srgbClr val="EF4444"/>
                </a:solidFill>
                <a:latin typeface="Arial Black" pitchFamily="34" charset="0"/>
                <a:ea typeface="Arial Black" pitchFamily="34" charset="-122"/>
                <a:cs typeface="Arial Black" pitchFamily="34" charset="-120"/>
              </a:rPr>
              <a:t>8/19</a:t>
            </a:r>
            <a:endParaRPr lang="en-US" sz="2800" dirty="0"/>
          </a:p>
        </p:txBody>
      </p:sp>
      <p:sp>
        <p:nvSpPr>
          <p:cNvPr id="15" name="Text 13"/>
          <p:cNvSpPr/>
          <p:nvPr/>
        </p:nvSpPr>
        <p:spPr>
          <a:xfrm>
            <a:off x="4800600" y="4146804"/>
            <a:ext cx="1965960" cy="56007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Clips Wildmoka</a:t>
            </a:r>
            <a:endParaRPr lang="en-US" sz="1000" dirty="0"/>
          </a:p>
        </p:txBody>
      </p:sp>
      <p:sp>
        <p:nvSpPr>
          <p:cNvPr id="16" name="Shape 14"/>
          <p:cNvSpPr/>
          <p:nvPr/>
        </p:nvSpPr>
        <p:spPr>
          <a:xfrm>
            <a:off x="6949440" y="3154680"/>
            <a:ext cx="1965960" cy="1600200"/>
          </a:xfrm>
          <a:prstGeom prst="rect">
            <a:avLst/>
          </a:prstGeom>
          <a:solidFill>
            <a:srgbClr val="F4F6FA"/>
          </a:solidFill>
          <a:ln w="12700">
            <a:solidFill>
              <a:srgbClr val="8B5CF6"/>
            </a:solidFill>
            <a:prstDash val="solid"/>
          </a:ln>
          <a:effectLst>
            <a:outerShdw sx="100000" sy="100000" kx="0" ky="0" algn="bl" rotWithShape="0" blurRad="50800" dist="25400" dir="2700000">
              <a:srgbClr val="C0C0C0">
                <a:alpha val="75000"/>
              </a:srgbClr>
            </a:outerShdw>
          </a:effectLst>
        </p:spPr>
      </p:sp>
      <p:sp>
        <p:nvSpPr>
          <p:cNvPr id="17" name="Text 15"/>
          <p:cNvSpPr/>
          <p:nvPr/>
        </p:nvSpPr>
        <p:spPr>
          <a:xfrm>
            <a:off x="6949440" y="3227832"/>
            <a:ext cx="1965960" cy="880110"/>
          </a:xfrm>
          <a:prstGeom prst="rect">
            <a:avLst/>
          </a:prstGeom>
          <a:noFill/>
          <a:ln/>
        </p:spPr>
        <p:txBody>
          <a:bodyPr wrap="square" rtlCol="0" anchor="ctr"/>
          <a:lstStyle/>
          <a:p>
            <a:pPr algn="ctr" indent="0" marL="0">
              <a:buNone/>
            </a:pPr>
            <a:r>
              <a:rPr lang="en-US" sz="2800" b="1" dirty="0">
                <a:solidFill>
                  <a:srgbClr val="8B5CF6"/>
                </a:solidFill>
                <a:latin typeface="Arial Black" pitchFamily="34" charset="0"/>
                <a:ea typeface="Arial Black" pitchFamily="34" charset="-122"/>
                <a:cs typeface="Arial Black" pitchFamily="34" charset="-120"/>
              </a:rPr>
              <a:t>3</a:t>
            </a:r>
            <a:endParaRPr lang="en-US" sz="2800" dirty="0"/>
          </a:p>
        </p:txBody>
      </p:sp>
      <p:sp>
        <p:nvSpPr>
          <p:cNvPr id="18" name="Text 16"/>
          <p:cNvSpPr/>
          <p:nvPr/>
        </p:nvSpPr>
        <p:spPr>
          <a:xfrm>
            <a:off x="6949440" y="4146804"/>
            <a:ext cx="1965960" cy="56007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Sources</a:t>
            </a:r>
            <a:endParaRPr lang="en-US" sz="1000" dirty="0"/>
          </a:p>
        </p:txBody>
      </p:sp>
      <p:sp>
        <p:nvSpPr>
          <p:cNvPr id="19" name="Text 17"/>
          <p:cNvSpPr/>
          <p:nvPr/>
        </p:nvSpPr>
        <p:spPr>
          <a:xfrm>
            <a:off x="548640" y="4846320"/>
            <a:ext cx="8229600" cy="228600"/>
          </a:xfrm>
          <a:prstGeom prst="rect">
            <a:avLst/>
          </a:prstGeom>
          <a:noFill/>
          <a:ln/>
        </p:spPr>
        <p:txBody>
          <a:bodyPr wrap="square" rtlCol="0" anchor="ctr"/>
          <a:lstStyle/>
          <a:p>
            <a:pPr indent="0" marL="0">
              <a:buNone/>
            </a:pPr>
            <a:r>
              <a:rPr lang="en-US" sz="900" i="1" dirty="0">
                <a:solidFill>
                  <a:srgbClr val="64748B"/>
                </a:solidFill>
              </a:rPr>
              <a:t>Projet Data Media — Zineb — Entretien C2M Media / Wildmoka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Contexte &amp; Objectif</a:t>
            </a:r>
            <a:endParaRPr lang="en-US" sz="2600" dirty="0"/>
          </a:p>
        </p:txBody>
      </p:sp>
      <p:sp>
        <p:nvSpPr>
          <p:cNvPr id="4" name="Shape 2"/>
          <p:cNvSpPr/>
          <p:nvPr/>
        </p:nvSpPr>
        <p:spPr>
          <a:xfrm>
            <a:off x="365760" y="960120"/>
            <a:ext cx="8412480" cy="1170432"/>
          </a:xfrm>
          <a:prstGeom prst="rect">
            <a:avLst/>
          </a:prstGeom>
          <a:solidFill>
            <a:srgbClr val="F4F6FA"/>
          </a:solidFill>
          <a:ln w="12700">
            <a:solidFill>
              <a:srgbClr val="EF4444"/>
            </a:solidFill>
            <a:prstDash val="solid"/>
          </a:ln>
        </p:spPr>
      </p:sp>
      <p:sp>
        <p:nvSpPr>
          <p:cNvPr id="5" name="Shape 3"/>
          <p:cNvSpPr/>
          <p:nvPr/>
        </p:nvSpPr>
        <p:spPr>
          <a:xfrm>
            <a:off x="365760" y="960120"/>
            <a:ext cx="91440" cy="1170432"/>
          </a:xfrm>
          <a:prstGeom prst="rect">
            <a:avLst/>
          </a:prstGeom>
          <a:solidFill>
            <a:srgbClr val="EF4444"/>
          </a:solidFill>
          <a:ln/>
        </p:spPr>
      </p:sp>
      <p:sp>
        <p:nvSpPr>
          <p:cNvPr id="6" name="Text 4"/>
          <p:cNvSpPr/>
          <p:nvPr/>
        </p:nvSpPr>
        <p:spPr>
          <a:xfrm>
            <a:off x="594360" y="1051560"/>
            <a:ext cx="8046720" cy="347472"/>
          </a:xfrm>
          <a:prstGeom prst="rect">
            <a:avLst/>
          </a:prstGeom>
          <a:noFill/>
          <a:ln/>
        </p:spPr>
        <p:txBody>
          <a:bodyPr wrap="square" rtlCol="0" anchor="ctr"/>
          <a:lstStyle/>
          <a:p>
            <a:pPr indent="0" marL="0">
              <a:buNone/>
            </a:pPr>
            <a:r>
              <a:rPr lang="en-US" sz="1300" b="1" dirty="0">
                <a:solidFill>
                  <a:srgbClr val="EF4444"/>
                </a:solidFill>
                <a:latin typeface="Arial" pitchFamily="34" charset="0"/>
                <a:ea typeface="Arial" pitchFamily="34" charset="-122"/>
                <a:cs typeface="Arial" pitchFamily="34" charset="-120"/>
              </a:rPr>
              <a:t>Le problème</a:t>
            </a:r>
            <a:endParaRPr lang="en-US" sz="1300" dirty="0"/>
          </a:p>
        </p:txBody>
      </p:sp>
      <p:sp>
        <p:nvSpPr>
          <p:cNvPr id="7" name="Text 5"/>
          <p:cNvSpPr/>
          <p:nvPr/>
        </p:nvSpPr>
        <p:spPr>
          <a:xfrm>
            <a:off x="594360" y="1380744"/>
            <a:ext cx="8046720" cy="658368"/>
          </a:xfrm>
          <a:prstGeom prst="rect">
            <a:avLst/>
          </a:prstGeom>
          <a:noFill/>
          <a:ln/>
        </p:spPr>
        <p:txBody>
          <a:bodyPr wrap="square" rtlCol="0" anchor="ctr"/>
          <a:lstStyle/>
          <a:p>
            <a:pPr indent="0" marL="0">
              <a:buNone/>
            </a:pPr>
            <a:r>
              <a:rPr lang="en-US" sz="1100" dirty="0">
                <a:solidFill>
                  <a:srgbClr val="1A202C"/>
                </a:solidFill>
                <a:latin typeface="Arial" pitchFamily="34" charset="0"/>
                <a:ea typeface="Arial" pitchFamily="34" charset="-122"/>
                <a:cs typeface="Arial" pitchFamily="34" charset="-120"/>
              </a:rPr>
              <a:t>Les chaînes TV (France 24, Arte, BFM TV) génèrent des sous-titres automatiques via des moteurs STT. Ces sous-titres contiennent des erreurs — parfois graves — qui partent en direct sans validation qualité.</a:t>
            </a:r>
            <a:endParaRPr lang="en-US" sz="1100" dirty="0"/>
          </a:p>
        </p:txBody>
      </p:sp>
      <p:sp>
        <p:nvSpPr>
          <p:cNvPr id="8" name="Shape 6"/>
          <p:cNvSpPr/>
          <p:nvPr/>
        </p:nvSpPr>
        <p:spPr>
          <a:xfrm>
            <a:off x="365760" y="2258568"/>
            <a:ext cx="8412480" cy="1170432"/>
          </a:xfrm>
          <a:prstGeom prst="rect">
            <a:avLst/>
          </a:prstGeom>
          <a:solidFill>
            <a:srgbClr val="F4F6FA"/>
          </a:solidFill>
          <a:ln w="12700">
            <a:solidFill>
              <a:srgbClr val="0EA5E9"/>
            </a:solidFill>
            <a:prstDash val="solid"/>
          </a:ln>
        </p:spPr>
      </p:sp>
      <p:sp>
        <p:nvSpPr>
          <p:cNvPr id="9" name="Shape 7"/>
          <p:cNvSpPr/>
          <p:nvPr/>
        </p:nvSpPr>
        <p:spPr>
          <a:xfrm>
            <a:off x="365760" y="2258568"/>
            <a:ext cx="91440" cy="1170432"/>
          </a:xfrm>
          <a:prstGeom prst="rect">
            <a:avLst/>
          </a:prstGeom>
          <a:solidFill>
            <a:srgbClr val="0EA5E9"/>
          </a:solidFill>
          <a:ln/>
        </p:spPr>
      </p:sp>
      <p:sp>
        <p:nvSpPr>
          <p:cNvPr id="10" name="Text 8"/>
          <p:cNvSpPr/>
          <p:nvPr/>
        </p:nvSpPr>
        <p:spPr>
          <a:xfrm>
            <a:off x="594360" y="2350008"/>
            <a:ext cx="8046720" cy="347472"/>
          </a:xfrm>
          <a:prstGeom prst="rect">
            <a:avLst/>
          </a:prstGeom>
          <a:noFill/>
          <a:ln/>
        </p:spPr>
        <p:txBody>
          <a:bodyPr wrap="square" rtlCol="0" anchor="ctr"/>
          <a:lstStyle/>
          <a:p>
            <a:pPr indent="0" marL="0">
              <a:buNone/>
            </a:pPr>
            <a:r>
              <a:rPr lang="en-US" sz="1300" b="1" dirty="0">
                <a:solidFill>
                  <a:srgbClr val="0EA5E9"/>
                </a:solidFill>
                <a:latin typeface="Arial" pitchFamily="34" charset="0"/>
                <a:ea typeface="Arial" pitchFamily="34" charset="-122"/>
                <a:cs typeface="Arial" pitchFamily="34" charset="-120"/>
              </a:rPr>
              <a:t>L'opportunité</a:t>
            </a:r>
            <a:endParaRPr lang="en-US" sz="1300" dirty="0"/>
          </a:p>
        </p:txBody>
      </p:sp>
      <p:sp>
        <p:nvSpPr>
          <p:cNvPr id="11" name="Text 9"/>
          <p:cNvSpPr/>
          <p:nvPr/>
        </p:nvSpPr>
        <p:spPr>
          <a:xfrm>
            <a:off x="594360" y="2679192"/>
            <a:ext cx="8046720" cy="658368"/>
          </a:xfrm>
          <a:prstGeom prst="rect">
            <a:avLst/>
          </a:prstGeom>
          <a:noFill/>
          <a:ln/>
        </p:spPr>
        <p:txBody>
          <a:bodyPr wrap="square" rtlCol="0" anchor="ctr"/>
          <a:lstStyle/>
          <a:p>
            <a:pPr indent="0" marL="0">
              <a:buNone/>
            </a:pPr>
            <a:r>
              <a:rPr lang="en-US" sz="1100" dirty="0">
                <a:solidFill>
                  <a:srgbClr val="1A202C"/>
                </a:solidFill>
                <a:latin typeface="Arial" pitchFamily="34" charset="0"/>
                <a:ea typeface="Arial" pitchFamily="34" charset="-122"/>
                <a:cs typeface="Arial" pitchFamily="34" charset="-120"/>
              </a:rPr>
              <a:t>Wildmoka est une plateforme de clipping vidéo utilisée par ces mêmes chaînes pour diffuser des extraits sur les réseaux sociaux. Elle est idéale pour intégrer une validation qualité automatique avant diffusion.</a:t>
            </a:r>
            <a:endParaRPr lang="en-US" sz="1100" dirty="0"/>
          </a:p>
        </p:txBody>
      </p:sp>
      <p:sp>
        <p:nvSpPr>
          <p:cNvPr id="12" name="Shape 10"/>
          <p:cNvSpPr/>
          <p:nvPr/>
        </p:nvSpPr>
        <p:spPr>
          <a:xfrm>
            <a:off x="365760" y="3557016"/>
            <a:ext cx="8412480" cy="1170432"/>
          </a:xfrm>
          <a:prstGeom prst="rect">
            <a:avLst/>
          </a:prstGeom>
          <a:solidFill>
            <a:srgbClr val="F4F6FA"/>
          </a:solidFill>
          <a:ln w="12700">
            <a:solidFill>
              <a:srgbClr val="10B981"/>
            </a:solidFill>
            <a:prstDash val="solid"/>
          </a:ln>
        </p:spPr>
      </p:sp>
      <p:sp>
        <p:nvSpPr>
          <p:cNvPr id="13" name="Shape 11"/>
          <p:cNvSpPr/>
          <p:nvPr/>
        </p:nvSpPr>
        <p:spPr>
          <a:xfrm>
            <a:off x="365760" y="3557016"/>
            <a:ext cx="91440" cy="1170432"/>
          </a:xfrm>
          <a:prstGeom prst="rect">
            <a:avLst/>
          </a:prstGeom>
          <a:solidFill>
            <a:srgbClr val="10B981"/>
          </a:solidFill>
          <a:ln/>
        </p:spPr>
      </p:sp>
      <p:sp>
        <p:nvSpPr>
          <p:cNvPr id="14" name="Text 12"/>
          <p:cNvSpPr/>
          <p:nvPr/>
        </p:nvSpPr>
        <p:spPr>
          <a:xfrm>
            <a:off x="594360" y="3648456"/>
            <a:ext cx="8046720" cy="347472"/>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La solution — SubQuality</a:t>
            </a:r>
            <a:endParaRPr lang="en-US" sz="1300" dirty="0"/>
          </a:p>
        </p:txBody>
      </p:sp>
      <p:sp>
        <p:nvSpPr>
          <p:cNvPr id="15" name="Text 13"/>
          <p:cNvSpPr/>
          <p:nvPr/>
        </p:nvSpPr>
        <p:spPr>
          <a:xfrm>
            <a:off x="594360" y="3977640"/>
            <a:ext cx="8046720" cy="658368"/>
          </a:xfrm>
          <a:prstGeom prst="rect">
            <a:avLst/>
          </a:prstGeom>
          <a:noFill/>
          <a:ln/>
        </p:spPr>
        <p:txBody>
          <a:bodyPr wrap="square" rtlCol="0" anchor="ctr"/>
          <a:lstStyle/>
          <a:p>
            <a:pPr indent="0" marL="0">
              <a:buNone/>
            </a:pPr>
            <a:r>
              <a:rPr lang="en-US" sz="1100" dirty="0">
                <a:solidFill>
                  <a:srgbClr val="1A202C"/>
                </a:solidFill>
                <a:latin typeface="Arial" pitchFamily="34" charset="0"/>
                <a:ea typeface="Arial" pitchFamily="34" charset="-122"/>
                <a:cs typeface="Arial" pitchFamily="34" charset="-120"/>
              </a:rPr>
              <a:t>Pipeline Python qui analyse automatiquement la qualité des sous-titres STT, calcule WER &amp; CER segment par segment, extrait des frames vidéo aux erreurs, et exporte un rapport JSON pour Wildmoka.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Pipeline — Architecture complète</a:t>
            </a:r>
            <a:endParaRPr lang="en-US" sz="2600" dirty="0"/>
          </a:p>
        </p:txBody>
      </p:sp>
      <p:sp>
        <p:nvSpPr>
          <p:cNvPr id="4" name="Shape 2"/>
          <p:cNvSpPr/>
          <p:nvPr/>
        </p:nvSpPr>
        <p:spPr>
          <a:xfrm>
            <a:off x="228600" y="896112"/>
            <a:ext cx="2286000" cy="3931920"/>
          </a:xfrm>
          <a:prstGeom prst="rect">
            <a:avLst/>
          </a:prstGeom>
          <a:solidFill>
            <a:srgbClr val="EFF6FF"/>
          </a:solidFill>
          <a:ln w="12700">
            <a:solidFill>
              <a:srgbClr val="BFDBFE"/>
            </a:solidFill>
            <a:prstDash val="solid"/>
          </a:ln>
        </p:spPr>
      </p:sp>
      <p:sp>
        <p:nvSpPr>
          <p:cNvPr id="5" name="Text 3"/>
          <p:cNvSpPr/>
          <p:nvPr/>
        </p:nvSpPr>
        <p:spPr>
          <a:xfrm>
            <a:off x="228600" y="896112"/>
            <a:ext cx="2286000" cy="347472"/>
          </a:xfrm>
          <a:prstGeom prst="rect">
            <a:avLst/>
          </a:prstGeom>
          <a:noFill/>
          <a:ln/>
        </p:spPr>
        <p:txBody>
          <a:bodyPr wrap="square" rtlCol="0" anchor="ctr"/>
          <a:lstStyle/>
          <a:p>
            <a:pPr algn="ctr" indent="0" marL="0">
              <a:buNone/>
            </a:pPr>
            <a:r>
              <a:rPr lang="en-US" sz="1100" b="1" dirty="0">
                <a:solidFill>
                  <a:srgbClr val="0EA5E9"/>
                </a:solidFill>
                <a:latin typeface="Arial" pitchFamily="34" charset="0"/>
                <a:ea typeface="Arial" pitchFamily="34" charset="-122"/>
                <a:cs typeface="Arial" pitchFamily="34" charset="-120"/>
              </a:rPr>
              <a:t>ENTRÉES</a:t>
            </a:r>
            <a:endParaRPr lang="en-US" sz="1100" dirty="0"/>
          </a:p>
        </p:txBody>
      </p:sp>
      <p:sp>
        <p:nvSpPr>
          <p:cNvPr id="6" name="Shape 4"/>
          <p:cNvSpPr/>
          <p:nvPr/>
        </p:nvSpPr>
        <p:spPr>
          <a:xfrm>
            <a:off x="320040" y="1353312"/>
            <a:ext cx="2103120" cy="749808"/>
          </a:xfrm>
          <a:prstGeom prst="rect">
            <a:avLst/>
          </a:prstGeom>
          <a:solidFill>
            <a:srgbClr val="FFFFFF"/>
          </a:solidFill>
          <a:ln w="12700">
            <a:solidFill>
              <a:srgbClr val="0EA5E9"/>
            </a:solidFill>
            <a:prstDash val="solid"/>
          </a:ln>
        </p:spPr>
      </p:sp>
      <p:sp>
        <p:nvSpPr>
          <p:cNvPr id="7" name="Text 5"/>
          <p:cNvSpPr/>
          <p:nvPr/>
        </p:nvSpPr>
        <p:spPr>
          <a:xfrm>
            <a:off x="365760" y="1408176"/>
            <a:ext cx="2011680" cy="256032"/>
          </a:xfrm>
          <a:prstGeom prst="rect">
            <a:avLst/>
          </a:prstGeom>
          <a:noFill/>
          <a:ln/>
        </p:spPr>
        <p:txBody>
          <a:bodyPr wrap="square" rtlCol="0" anchor="ctr"/>
          <a:lstStyle/>
          <a:p>
            <a:pPr indent="0" marL="0">
              <a:buNone/>
            </a:pPr>
            <a:r>
              <a:rPr lang="en-US" sz="900" b="1" dirty="0">
                <a:solidFill>
                  <a:srgbClr val="0EA5E9"/>
                </a:solidFill>
                <a:latin typeface="Arial" pitchFamily="34" charset="0"/>
                <a:ea typeface="Arial" pitchFamily="34" charset="-122"/>
                <a:cs typeface="Arial" pitchFamily="34" charset="-120"/>
              </a:rPr>
              <a:t>france24.mp3</a:t>
            </a:r>
            <a:endParaRPr lang="en-US" sz="900" dirty="0"/>
          </a:p>
        </p:txBody>
      </p:sp>
      <p:sp>
        <p:nvSpPr>
          <p:cNvPr id="8" name="Text 6"/>
          <p:cNvSpPr/>
          <p:nvPr/>
        </p:nvSpPr>
        <p:spPr>
          <a:xfrm>
            <a:off x="365760" y="1682496"/>
            <a:ext cx="2011680" cy="347472"/>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Audio France 24</a:t>
            </a:r>
            <a:endParaRPr lang="en-US" sz="850" dirty="0"/>
          </a:p>
        </p:txBody>
      </p:sp>
      <p:sp>
        <p:nvSpPr>
          <p:cNvPr id="9" name="Shape 7"/>
          <p:cNvSpPr/>
          <p:nvPr/>
        </p:nvSpPr>
        <p:spPr>
          <a:xfrm>
            <a:off x="320040" y="2240280"/>
            <a:ext cx="2103120" cy="749808"/>
          </a:xfrm>
          <a:prstGeom prst="rect">
            <a:avLst/>
          </a:prstGeom>
          <a:solidFill>
            <a:srgbClr val="FFFFFF"/>
          </a:solidFill>
          <a:ln w="12700">
            <a:solidFill>
              <a:srgbClr val="10B981"/>
            </a:solidFill>
            <a:prstDash val="solid"/>
          </a:ln>
        </p:spPr>
      </p:sp>
      <p:sp>
        <p:nvSpPr>
          <p:cNvPr id="10" name="Text 8"/>
          <p:cNvSpPr/>
          <p:nvPr/>
        </p:nvSpPr>
        <p:spPr>
          <a:xfrm>
            <a:off x="365760" y="2295144"/>
            <a:ext cx="2011680" cy="256032"/>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france24.fr.srt</a:t>
            </a:r>
            <a:endParaRPr lang="en-US" sz="900" dirty="0"/>
          </a:p>
        </p:txBody>
      </p:sp>
      <p:sp>
        <p:nvSpPr>
          <p:cNvPr id="11" name="Text 9"/>
          <p:cNvSpPr/>
          <p:nvPr/>
        </p:nvSpPr>
        <p:spPr>
          <a:xfrm>
            <a:off x="365760" y="2569464"/>
            <a:ext cx="2011680" cy="347472"/>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CC YouTube (yt-dlp)</a:t>
            </a:r>
            <a:endParaRPr lang="en-US" sz="850" dirty="0"/>
          </a:p>
        </p:txBody>
      </p:sp>
      <p:sp>
        <p:nvSpPr>
          <p:cNvPr id="12" name="Shape 10"/>
          <p:cNvSpPr/>
          <p:nvPr/>
        </p:nvSpPr>
        <p:spPr>
          <a:xfrm>
            <a:off x="320040" y="3127248"/>
            <a:ext cx="2103120" cy="749808"/>
          </a:xfrm>
          <a:prstGeom prst="rect">
            <a:avLst/>
          </a:prstGeom>
          <a:solidFill>
            <a:srgbClr val="FFFFFF"/>
          </a:solidFill>
          <a:ln w="12700">
            <a:solidFill>
              <a:srgbClr val="F97316"/>
            </a:solidFill>
            <a:prstDash val="solid"/>
          </a:ln>
        </p:spPr>
      </p:sp>
      <p:sp>
        <p:nvSpPr>
          <p:cNvPr id="13" name="Text 11"/>
          <p:cNvSpPr/>
          <p:nvPr/>
        </p:nvSpPr>
        <p:spPr>
          <a:xfrm>
            <a:off x="365760" y="3182112"/>
            <a:ext cx="2011680" cy="256032"/>
          </a:xfrm>
          <a:prstGeom prst="rect">
            <a:avLst/>
          </a:prstGeom>
          <a:noFill/>
          <a:ln/>
        </p:spPr>
        <p:txBody>
          <a:bodyPr wrap="square" rtlCol="0" anchor="ctr"/>
          <a:lstStyle/>
          <a:p>
            <a:pPr indent="0" marL="0">
              <a:buNone/>
            </a:pPr>
            <a:r>
              <a:rPr lang="en-US" sz="900" b="1" dirty="0">
                <a:solidFill>
                  <a:srgbClr val="F97316"/>
                </a:solidFill>
                <a:latin typeface="Arial" pitchFamily="34" charset="0"/>
                <a:ea typeface="Arial" pitchFamily="34" charset="-122"/>
                <a:cs typeface="Arial" pitchFamily="34" charset="-120"/>
              </a:rPr>
              <a:t>reference.txt</a:t>
            </a:r>
            <a:endParaRPr lang="en-US" sz="900" dirty="0"/>
          </a:p>
        </p:txBody>
      </p:sp>
      <p:sp>
        <p:nvSpPr>
          <p:cNvPr id="14" name="Text 12"/>
          <p:cNvSpPr/>
          <p:nvPr/>
        </p:nvSpPr>
        <p:spPr>
          <a:xfrm>
            <a:off x="365760" y="3456432"/>
            <a:ext cx="2011680" cy="347472"/>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Référence terrain</a:t>
            </a:r>
            <a:endParaRPr lang="en-US" sz="850" dirty="0"/>
          </a:p>
          <a:p>
            <a:pPr indent="0" marL="0">
              <a:buNone/>
            </a:pPr>
            <a:r>
              <a:rPr lang="en-US" sz="850" dirty="0">
                <a:solidFill>
                  <a:srgbClr val="64748B"/>
                </a:solidFill>
                <a:latin typeface="Arial" pitchFamily="34" charset="0"/>
                <a:ea typeface="Arial" pitchFamily="34" charset="-122"/>
                <a:cs typeface="Arial" pitchFamily="34" charset="-120"/>
              </a:rPr>
              <a:t>(corrigée manuellement)</a:t>
            </a:r>
            <a:endParaRPr lang="en-US" sz="850" dirty="0"/>
          </a:p>
        </p:txBody>
      </p:sp>
      <p:sp>
        <p:nvSpPr>
          <p:cNvPr id="15" name="Shape 13"/>
          <p:cNvSpPr/>
          <p:nvPr/>
        </p:nvSpPr>
        <p:spPr>
          <a:xfrm>
            <a:off x="320040" y="4014216"/>
            <a:ext cx="2103120" cy="749808"/>
          </a:xfrm>
          <a:prstGeom prst="rect">
            <a:avLst/>
          </a:prstGeom>
          <a:solidFill>
            <a:srgbClr val="FFFFFF"/>
          </a:solidFill>
          <a:ln w="12700">
            <a:solidFill>
              <a:srgbClr val="8B5CF6"/>
            </a:solidFill>
            <a:prstDash val="solid"/>
          </a:ln>
        </p:spPr>
      </p:sp>
      <p:sp>
        <p:nvSpPr>
          <p:cNvPr id="16" name="Text 14"/>
          <p:cNvSpPr/>
          <p:nvPr/>
        </p:nvSpPr>
        <p:spPr>
          <a:xfrm>
            <a:off x="365760" y="4069080"/>
            <a:ext cx="2011680" cy="256032"/>
          </a:xfrm>
          <a:prstGeom prst="rect">
            <a:avLst/>
          </a:prstGeom>
          <a:noFill/>
          <a:ln/>
        </p:spPr>
        <p:txBody>
          <a:bodyPr wrap="square" rtlCol="0" anchor="ctr"/>
          <a:lstStyle/>
          <a:p>
            <a:pPr indent="0" marL="0">
              <a:buNone/>
            </a:pPr>
            <a:r>
              <a:rPr lang="en-US" sz="900" b="1" dirty="0">
                <a:solidFill>
                  <a:srgbClr val="8B5CF6"/>
                </a:solidFill>
                <a:latin typeface="Arial" pitchFamily="34" charset="0"/>
                <a:ea typeface="Arial" pitchFamily="34" charset="-122"/>
                <a:cs typeface="Arial" pitchFamily="34" charset="-120"/>
              </a:rPr>
              <a:t>france24.mp4</a:t>
            </a:r>
            <a:endParaRPr lang="en-US" sz="900" dirty="0"/>
          </a:p>
        </p:txBody>
      </p:sp>
      <p:sp>
        <p:nvSpPr>
          <p:cNvPr id="17" name="Text 15"/>
          <p:cNvSpPr/>
          <p:nvPr/>
        </p:nvSpPr>
        <p:spPr>
          <a:xfrm>
            <a:off x="365760" y="4343400"/>
            <a:ext cx="2011680" cy="347472"/>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Vidéo (frames)</a:t>
            </a:r>
            <a:endParaRPr lang="en-US" sz="850" dirty="0"/>
          </a:p>
        </p:txBody>
      </p:sp>
      <p:sp>
        <p:nvSpPr>
          <p:cNvPr id="18" name="Shape 16"/>
          <p:cNvSpPr/>
          <p:nvPr/>
        </p:nvSpPr>
        <p:spPr>
          <a:xfrm>
            <a:off x="2788920" y="896112"/>
            <a:ext cx="3566160" cy="3931920"/>
          </a:xfrm>
          <a:prstGeom prst="rect">
            <a:avLst/>
          </a:prstGeom>
          <a:solidFill>
            <a:srgbClr val="F0FFF4"/>
          </a:solidFill>
          <a:ln w="12700">
            <a:solidFill>
              <a:srgbClr val="A7F3D0"/>
            </a:solidFill>
            <a:prstDash val="solid"/>
          </a:ln>
        </p:spPr>
      </p:sp>
      <p:sp>
        <p:nvSpPr>
          <p:cNvPr id="19" name="Text 17"/>
          <p:cNvSpPr/>
          <p:nvPr/>
        </p:nvSpPr>
        <p:spPr>
          <a:xfrm>
            <a:off x="2788920" y="896112"/>
            <a:ext cx="3566160" cy="347472"/>
          </a:xfrm>
          <a:prstGeom prst="rect">
            <a:avLst/>
          </a:prstGeom>
          <a:noFill/>
          <a:ln/>
        </p:spPr>
        <p:txBody>
          <a:bodyPr wrap="square"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TRAITEMENTS (scripts Python)</a:t>
            </a:r>
            <a:endParaRPr lang="en-US" sz="1100" dirty="0"/>
          </a:p>
        </p:txBody>
      </p:sp>
      <p:sp>
        <p:nvSpPr>
          <p:cNvPr id="20" name="Shape 18"/>
          <p:cNvSpPr/>
          <p:nvPr/>
        </p:nvSpPr>
        <p:spPr>
          <a:xfrm>
            <a:off x="2880360" y="1353312"/>
            <a:ext cx="3383280" cy="1024128"/>
          </a:xfrm>
          <a:prstGeom prst="rect">
            <a:avLst/>
          </a:prstGeom>
          <a:solidFill>
            <a:srgbClr val="FFFFFF"/>
          </a:solidFill>
          <a:ln w="12700">
            <a:solidFill>
              <a:srgbClr val="0EA5E9"/>
            </a:solidFill>
            <a:prstDash val="solid"/>
          </a:ln>
        </p:spPr>
      </p:sp>
      <p:sp>
        <p:nvSpPr>
          <p:cNvPr id="21" name="Text 19"/>
          <p:cNvSpPr/>
          <p:nvPr/>
        </p:nvSpPr>
        <p:spPr>
          <a:xfrm>
            <a:off x="2926080" y="1408176"/>
            <a:ext cx="3291840" cy="274320"/>
          </a:xfrm>
          <a:prstGeom prst="rect">
            <a:avLst/>
          </a:prstGeom>
          <a:noFill/>
          <a:ln/>
        </p:spPr>
        <p:txBody>
          <a:bodyPr wrap="square" rtlCol="0" anchor="ctr"/>
          <a:lstStyle/>
          <a:p>
            <a:pPr indent="0" marL="0">
              <a:buNone/>
            </a:pPr>
            <a:r>
              <a:rPr lang="en-US" sz="1000" b="1" dirty="0">
                <a:solidFill>
                  <a:srgbClr val="0EA5E9"/>
                </a:solidFill>
                <a:latin typeface="Arial Black" pitchFamily="34" charset="0"/>
                <a:ea typeface="Arial Black" pitchFamily="34" charset="-122"/>
                <a:cs typeface="Arial Black" pitchFamily="34" charset="-120"/>
              </a:rPr>
              <a:t>transcribe.py</a:t>
            </a:r>
            <a:endParaRPr lang="en-US" sz="1000" dirty="0"/>
          </a:p>
        </p:txBody>
      </p:sp>
      <p:sp>
        <p:nvSpPr>
          <p:cNvPr id="22" name="Text 20"/>
          <p:cNvSpPr/>
          <p:nvPr/>
        </p:nvSpPr>
        <p:spPr>
          <a:xfrm>
            <a:off x="2926080" y="1700784"/>
            <a:ext cx="3291840" cy="603504"/>
          </a:xfrm>
          <a:prstGeom prst="rect">
            <a:avLst/>
          </a:prstGeom>
          <a:noFill/>
          <a:ln/>
        </p:spPr>
        <p:txBody>
          <a:bodyPr wrap="square" rtlCol="0" anchor="ctr"/>
          <a:lstStyle/>
          <a:p>
            <a:pPr indent="0" marL="0">
              <a:buNone/>
            </a:pPr>
            <a:r>
              <a:rPr lang="en-US" sz="900" dirty="0">
                <a:solidFill>
                  <a:srgbClr val="1A202C"/>
                </a:solidFill>
                <a:latin typeface="Arial" pitchFamily="34" charset="0"/>
                <a:ea typeface="Arial" pitchFamily="34" charset="-122"/>
                <a:cs typeface="Arial" pitchFamily="34" charset="-120"/>
              </a:rPr>
              <a:t>Whisper base</a:t>
            </a:r>
            <a:endParaRPr lang="en-US" sz="900" dirty="0"/>
          </a:p>
          <a:p>
            <a:pPr indent="0" marL="0">
              <a:buNone/>
            </a:pPr>
            <a:r>
              <a:rPr lang="en-US" sz="900" dirty="0">
                <a:solidFill>
                  <a:srgbClr val="1A202C"/>
                </a:solidFill>
                <a:latin typeface="Arial" pitchFamily="34" charset="0"/>
                <a:ea typeface="Arial" pitchFamily="34" charset="-122"/>
                <a:cs typeface="Arial" pitchFamily="34" charset="-120"/>
              </a:rPr>
              <a:t>→ transcription.json</a:t>
            </a:r>
            <a:endParaRPr lang="en-US" sz="900" dirty="0"/>
          </a:p>
          <a:p>
            <a:pPr indent="0" marL="0">
              <a:buNone/>
            </a:pPr>
            <a:r>
              <a:rPr lang="en-US" sz="900" dirty="0">
                <a:solidFill>
                  <a:srgbClr val="1A202C"/>
                </a:solidFill>
                <a:latin typeface="Arial" pitchFamily="34" charset="0"/>
                <a:ea typeface="Arial" pitchFamily="34" charset="-122"/>
                <a:cs typeface="Arial" pitchFamily="34" charset="-120"/>
              </a:rPr>
              <a:t>(19 segments + timestamps)</a:t>
            </a:r>
            <a:endParaRPr lang="en-US" sz="900" dirty="0"/>
          </a:p>
        </p:txBody>
      </p:sp>
      <p:sp>
        <p:nvSpPr>
          <p:cNvPr id="23" name="Shape 21"/>
          <p:cNvSpPr/>
          <p:nvPr/>
        </p:nvSpPr>
        <p:spPr>
          <a:xfrm>
            <a:off x="2880360" y="2514600"/>
            <a:ext cx="3383280" cy="1024128"/>
          </a:xfrm>
          <a:prstGeom prst="rect">
            <a:avLst/>
          </a:prstGeom>
          <a:solidFill>
            <a:srgbClr val="FFFFFF"/>
          </a:solidFill>
          <a:ln w="12700">
            <a:solidFill>
              <a:srgbClr val="10B981"/>
            </a:solidFill>
            <a:prstDash val="solid"/>
          </a:ln>
        </p:spPr>
      </p:sp>
      <p:sp>
        <p:nvSpPr>
          <p:cNvPr id="24" name="Text 22"/>
          <p:cNvSpPr/>
          <p:nvPr/>
        </p:nvSpPr>
        <p:spPr>
          <a:xfrm>
            <a:off x="2926080" y="2569464"/>
            <a:ext cx="3291840" cy="274320"/>
          </a:xfrm>
          <a:prstGeom prst="rect">
            <a:avLst/>
          </a:prstGeom>
          <a:noFill/>
          <a:ln/>
        </p:spPr>
        <p:txBody>
          <a:bodyPr wrap="square" rtlCol="0" anchor="ctr"/>
          <a:lstStyle/>
          <a:p>
            <a:pPr indent="0" marL="0">
              <a:buNone/>
            </a:pPr>
            <a:r>
              <a:rPr lang="en-US" sz="1000" b="1" dirty="0">
                <a:solidFill>
                  <a:srgbClr val="10B981"/>
                </a:solidFill>
                <a:latin typeface="Arial Black" pitchFamily="34" charset="0"/>
                <a:ea typeface="Arial Black" pitchFamily="34" charset="-122"/>
                <a:cs typeface="Arial Black" pitchFamily="34" charset="-120"/>
              </a:rPr>
              <a:t>evaluate.py</a:t>
            </a:r>
            <a:endParaRPr lang="en-US" sz="1000" dirty="0"/>
          </a:p>
        </p:txBody>
      </p:sp>
      <p:sp>
        <p:nvSpPr>
          <p:cNvPr id="25" name="Text 23"/>
          <p:cNvSpPr/>
          <p:nvPr/>
        </p:nvSpPr>
        <p:spPr>
          <a:xfrm>
            <a:off x="2926080" y="2862072"/>
            <a:ext cx="3291840" cy="603504"/>
          </a:xfrm>
          <a:prstGeom prst="rect">
            <a:avLst/>
          </a:prstGeom>
          <a:noFill/>
          <a:ln/>
        </p:spPr>
        <p:txBody>
          <a:bodyPr wrap="square" rtlCol="0" anchor="ctr"/>
          <a:lstStyle/>
          <a:p>
            <a:pPr indent="0" marL="0">
              <a:buNone/>
            </a:pPr>
            <a:r>
              <a:rPr lang="en-US" sz="900" dirty="0">
                <a:solidFill>
                  <a:srgbClr val="1A202C"/>
                </a:solidFill>
                <a:latin typeface="Arial" pitchFamily="34" charset="0"/>
                <a:ea typeface="Arial" pitchFamily="34" charset="-122"/>
                <a:cs typeface="Arial" pitchFamily="34" charset="-120"/>
              </a:rPr>
              <a:t>jiwer NLP</a:t>
            </a:r>
            <a:endParaRPr lang="en-US" sz="900" dirty="0"/>
          </a:p>
          <a:p>
            <a:pPr indent="0" marL="0">
              <a:buNone/>
            </a:pPr>
            <a:r>
              <a:rPr lang="en-US" sz="900" dirty="0">
                <a:solidFill>
                  <a:srgbClr val="1A202C"/>
                </a:solidFill>
                <a:latin typeface="Arial" pitchFamily="34" charset="0"/>
                <a:ea typeface="Arial" pitchFamily="34" charset="-122"/>
                <a:cs typeface="Arial" pitchFamily="34" charset="-120"/>
              </a:rPr>
              <a:t>→ WER &amp; CER global</a:t>
            </a:r>
            <a:endParaRPr lang="en-US" sz="900" dirty="0"/>
          </a:p>
          <a:p>
            <a:pPr indent="0" marL="0">
              <a:buNone/>
            </a:pPr>
            <a:r>
              <a:rPr lang="en-US" sz="900" dirty="0">
                <a:solidFill>
                  <a:srgbClr val="1A202C"/>
                </a:solidFill>
                <a:latin typeface="Arial" pitchFamily="34" charset="0"/>
                <a:ea typeface="Arial" pitchFamily="34" charset="-122"/>
                <a:cs typeface="Arial" pitchFamily="34" charset="-120"/>
              </a:rPr>
              <a:t>(Whisper vs CC YouTube)</a:t>
            </a:r>
            <a:endParaRPr lang="en-US" sz="900" dirty="0"/>
          </a:p>
        </p:txBody>
      </p:sp>
      <p:sp>
        <p:nvSpPr>
          <p:cNvPr id="26" name="Shape 24"/>
          <p:cNvSpPr/>
          <p:nvPr/>
        </p:nvSpPr>
        <p:spPr>
          <a:xfrm>
            <a:off x="2880360" y="3675888"/>
            <a:ext cx="3383280" cy="1024128"/>
          </a:xfrm>
          <a:prstGeom prst="rect">
            <a:avLst/>
          </a:prstGeom>
          <a:solidFill>
            <a:srgbClr val="FFFFFF"/>
          </a:solidFill>
          <a:ln w="12700">
            <a:solidFill>
              <a:srgbClr val="F97316"/>
            </a:solidFill>
            <a:prstDash val="solid"/>
          </a:ln>
        </p:spPr>
      </p:sp>
      <p:sp>
        <p:nvSpPr>
          <p:cNvPr id="27" name="Text 25"/>
          <p:cNvSpPr/>
          <p:nvPr/>
        </p:nvSpPr>
        <p:spPr>
          <a:xfrm>
            <a:off x="2926080" y="3730752"/>
            <a:ext cx="3291840" cy="274320"/>
          </a:xfrm>
          <a:prstGeom prst="rect">
            <a:avLst/>
          </a:prstGeom>
          <a:noFill/>
          <a:ln/>
        </p:spPr>
        <p:txBody>
          <a:bodyPr wrap="square" rtlCol="0" anchor="ctr"/>
          <a:lstStyle/>
          <a:p>
            <a:pPr indent="0" marL="0">
              <a:buNone/>
            </a:pPr>
            <a:r>
              <a:rPr lang="en-US" sz="1000" b="1" dirty="0">
                <a:solidFill>
                  <a:srgbClr val="F97316"/>
                </a:solidFill>
                <a:latin typeface="Arial Black" pitchFamily="34" charset="0"/>
                <a:ea typeface="Arial Black" pitchFamily="34" charset="-122"/>
                <a:cs typeface="Arial Black" pitchFamily="34" charset="-120"/>
              </a:rPr>
              <a:t>dashboard.py</a:t>
            </a:r>
            <a:endParaRPr lang="en-US" sz="1000" dirty="0"/>
          </a:p>
        </p:txBody>
      </p:sp>
      <p:sp>
        <p:nvSpPr>
          <p:cNvPr id="28" name="Text 26"/>
          <p:cNvSpPr/>
          <p:nvPr/>
        </p:nvSpPr>
        <p:spPr>
          <a:xfrm>
            <a:off x="2926080" y="4023360"/>
            <a:ext cx="3291840" cy="603504"/>
          </a:xfrm>
          <a:prstGeom prst="rect">
            <a:avLst/>
          </a:prstGeom>
          <a:noFill/>
          <a:ln/>
        </p:spPr>
        <p:txBody>
          <a:bodyPr wrap="square" rtlCol="0" anchor="ctr"/>
          <a:lstStyle/>
          <a:p>
            <a:pPr indent="0" marL="0">
              <a:buNone/>
            </a:pPr>
            <a:r>
              <a:rPr lang="en-US" sz="900" dirty="0">
                <a:solidFill>
                  <a:srgbClr val="1A202C"/>
                </a:solidFill>
                <a:latin typeface="Arial" pitchFamily="34" charset="0"/>
                <a:ea typeface="Arial" pitchFamily="34" charset="-122"/>
                <a:cs typeface="Arial" pitchFamily="34" charset="-120"/>
              </a:rPr>
              <a:t>OpenCV + matplotlib</a:t>
            </a:r>
            <a:endParaRPr lang="en-US" sz="900" dirty="0"/>
          </a:p>
          <a:p>
            <a:pPr indent="0" marL="0">
              <a:buNone/>
            </a:pPr>
            <a:r>
              <a:rPr lang="en-US" sz="900" dirty="0">
                <a:solidFill>
                  <a:srgbClr val="1A202C"/>
                </a:solidFill>
                <a:latin typeface="Arial" pitchFamily="34" charset="0"/>
                <a:ea typeface="Arial" pitchFamily="34" charset="-122"/>
                <a:cs typeface="Arial" pitchFamily="34" charset="-120"/>
              </a:rPr>
              <a:t>→ frames vidéo réelles</a:t>
            </a:r>
            <a:endParaRPr lang="en-US" sz="900" dirty="0"/>
          </a:p>
          <a:p>
            <a:pPr indent="0" marL="0">
              <a:buNone/>
            </a:pPr>
            <a:r>
              <a:rPr lang="en-US" sz="900" dirty="0">
                <a:solidFill>
                  <a:srgbClr val="1A202C"/>
                </a:solidFill>
                <a:latin typeface="Arial" pitchFamily="34" charset="0"/>
                <a:ea typeface="Arial" pitchFamily="34" charset="-122"/>
                <a:cs typeface="Arial" pitchFamily="34" charset="-120"/>
              </a:rPr>
              <a:t>+ métriques par segment</a:t>
            </a:r>
            <a:endParaRPr lang="en-US" sz="900" dirty="0"/>
          </a:p>
        </p:txBody>
      </p:sp>
      <p:sp>
        <p:nvSpPr>
          <p:cNvPr id="29" name="Shape 27"/>
          <p:cNvSpPr/>
          <p:nvPr/>
        </p:nvSpPr>
        <p:spPr>
          <a:xfrm>
            <a:off x="2523744" y="1728216"/>
            <a:ext cx="256032" cy="201168"/>
          </a:xfrm>
          <a:prstGeom prst="rightArrow">
            <a:avLst/>
          </a:prstGeom>
          <a:solidFill>
            <a:srgbClr val="64748B"/>
          </a:solidFill>
          <a:ln w="12700">
            <a:solidFill>
              <a:srgbClr val="64748B"/>
            </a:solidFill>
            <a:prstDash val="solid"/>
          </a:ln>
        </p:spPr>
      </p:sp>
      <p:sp>
        <p:nvSpPr>
          <p:cNvPr id="30" name="Shape 28"/>
          <p:cNvSpPr/>
          <p:nvPr/>
        </p:nvSpPr>
        <p:spPr>
          <a:xfrm>
            <a:off x="2523744" y="2615184"/>
            <a:ext cx="256032" cy="201168"/>
          </a:xfrm>
          <a:prstGeom prst="rightArrow">
            <a:avLst/>
          </a:prstGeom>
          <a:solidFill>
            <a:srgbClr val="64748B"/>
          </a:solidFill>
          <a:ln w="12700">
            <a:solidFill>
              <a:srgbClr val="64748B"/>
            </a:solidFill>
            <a:prstDash val="solid"/>
          </a:ln>
        </p:spPr>
      </p:sp>
      <p:sp>
        <p:nvSpPr>
          <p:cNvPr id="31" name="Shape 29"/>
          <p:cNvSpPr/>
          <p:nvPr/>
        </p:nvSpPr>
        <p:spPr>
          <a:xfrm>
            <a:off x="2523744" y="3502152"/>
            <a:ext cx="256032" cy="201168"/>
          </a:xfrm>
          <a:prstGeom prst="rightArrow">
            <a:avLst/>
          </a:prstGeom>
          <a:solidFill>
            <a:srgbClr val="64748B"/>
          </a:solidFill>
          <a:ln w="12700">
            <a:solidFill>
              <a:srgbClr val="64748B"/>
            </a:solidFill>
            <a:prstDash val="solid"/>
          </a:ln>
        </p:spPr>
      </p:sp>
      <p:sp>
        <p:nvSpPr>
          <p:cNvPr id="32" name="Shape 30"/>
          <p:cNvSpPr/>
          <p:nvPr/>
        </p:nvSpPr>
        <p:spPr>
          <a:xfrm>
            <a:off x="2523744" y="4389120"/>
            <a:ext cx="256032" cy="201168"/>
          </a:xfrm>
          <a:prstGeom prst="rightArrow">
            <a:avLst/>
          </a:prstGeom>
          <a:solidFill>
            <a:srgbClr val="64748B"/>
          </a:solidFill>
          <a:ln w="12700">
            <a:solidFill>
              <a:srgbClr val="64748B"/>
            </a:solidFill>
            <a:prstDash val="solid"/>
          </a:ln>
        </p:spPr>
      </p:sp>
      <p:sp>
        <p:nvSpPr>
          <p:cNvPr id="33" name="Shape 31"/>
          <p:cNvSpPr/>
          <p:nvPr/>
        </p:nvSpPr>
        <p:spPr>
          <a:xfrm>
            <a:off x="6263640" y="1865376"/>
            <a:ext cx="256032" cy="201168"/>
          </a:xfrm>
          <a:prstGeom prst="rightArrow">
            <a:avLst/>
          </a:prstGeom>
          <a:solidFill>
            <a:srgbClr val="64748B"/>
          </a:solidFill>
          <a:ln w="12700">
            <a:solidFill>
              <a:srgbClr val="64748B"/>
            </a:solidFill>
            <a:prstDash val="solid"/>
          </a:ln>
        </p:spPr>
      </p:sp>
      <p:sp>
        <p:nvSpPr>
          <p:cNvPr id="34" name="Shape 32"/>
          <p:cNvSpPr/>
          <p:nvPr/>
        </p:nvSpPr>
        <p:spPr>
          <a:xfrm>
            <a:off x="6263640" y="3026664"/>
            <a:ext cx="256032" cy="201168"/>
          </a:xfrm>
          <a:prstGeom prst="rightArrow">
            <a:avLst/>
          </a:prstGeom>
          <a:solidFill>
            <a:srgbClr val="64748B"/>
          </a:solidFill>
          <a:ln w="12700">
            <a:solidFill>
              <a:srgbClr val="64748B"/>
            </a:solidFill>
            <a:prstDash val="solid"/>
          </a:ln>
        </p:spPr>
      </p:sp>
      <p:sp>
        <p:nvSpPr>
          <p:cNvPr id="35" name="Shape 33"/>
          <p:cNvSpPr/>
          <p:nvPr/>
        </p:nvSpPr>
        <p:spPr>
          <a:xfrm>
            <a:off x="6263640" y="4187952"/>
            <a:ext cx="256032" cy="201168"/>
          </a:xfrm>
          <a:prstGeom prst="rightArrow">
            <a:avLst/>
          </a:prstGeom>
          <a:solidFill>
            <a:srgbClr val="64748B"/>
          </a:solidFill>
          <a:ln w="12700">
            <a:solidFill>
              <a:srgbClr val="64748B"/>
            </a:solidFill>
            <a:prstDash val="solid"/>
          </a:ln>
        </p:spPr>
      </p:sp>
      <p:sp>
        <p:nvSpPr>
          <p:cNvPr id="36" name="Shape 34"/>
          <p:cNvSpPr/>
          <p:nvPr/>
        </p:nvSpPr>
        <p:spPr>
          <a:xfrm>
            <a:off x="6629400" y="896112"/>
            <a:ext cx="2286000" cy="3931920"/>
          </a:xfrm>
          <a:prstGeom prst="rect">
            <a:avLst/>
          </a:prstGeom>
          <a:solidFill>
            <a:srgbClr val="FFF7ED"/>
          </a:solidFill>
          <a:ln w="12700">
            <a:solidFill>
              <a:srgbClr val="FED7AA"/>
            </a:solidFill>
            <a:prstDash val="solid"/>
          </a:ln>
        </p:spPr>
      </p:sp>
      <p:sp>
        <p:nvSpPr>
          <p:cNvPr id="37" name="Text 35"/>
          <p:cNvSpPr/>
          <p:nvPr/>
        </p:nvSpPr>
        <p:spPr>
          <a:xfrm>
            <a:off x="6629400" y="896112"/>
            <a:ext cx="2286000" cy="347472"/>
          </a:xfrm>
          <a:prstGeom prst="rect">
            <a:avLst/>
          </a:prstGeom>
          <a:noFill/>
          <a:ln/>
        </p:spPr>
        <p:txBody>
          <a:bodyPr wrap="square" rtlCol="0" anchor="ctr"/>
          <a:lstStyle/>
          <a:p>
            <a:pPr algn="ctr" indent="0" marL="0">
              <a:buNone/>
            </a:pPr>
            <a:r>
              <a:rPr lang="en-US" sz="1100" b="1" dirty="0">
                <a:solidFill>
                  <a:srgbClr val="F97316"/>
                </a:solidFill>
                <a:latin typeface="Arial" pitchFamily="34" charset="0"/>
                <a:ea typeface="Arial" pitchFamily="34" charset="-122"/>
                <a:cs typeface="Arial" pitchFamily="34" charset="-120"/>
              </a:rPr>
              <a:t>SORTIES</a:t>
            </a:r>
            <a:endParaRPr lang="en-US" sz="1100" dirty="0"/>
          </a:p>
        </p:txBody>
      </p:sp>
      <p:sp>
        <p:nvSpPr>
          <p:cNvPr id="38" name="Shape 36"/>
          <p:cNvSpPr/>
          <p:nvPr/>
        </p:nvSpPr>
        <p:spPr>
          <a:xfrm>
            <a:off x="6720840" y="1353312"/>
            <a:ext cx="2103120" cy="749808"/>
          </a:xfrm>
          <a:prstGeom prst="rect">
            <a:avLst/>
          </a:prstGeom>
          <a:solidFill>
            <a:srgbClr val="FFFFFF"/>
          </a:solidFill>
          <a:ln w="12700">
            <a:solidFill>
              <a:srgbClr val="0EA5E9"/>
            </a:solidFill>
            <a:prstDash val="solid"/>
          </a:ln>
        </p:spPr>
      </p:sp>
      <p:sp>
        <p:nvSpPr>
          <p:cNvPr id="39" name="Text 37"/>
          <p:cNvSpPr/>
          <p:nvPr/>
        </p:nvSpPr>
        <p:spPr>
          <a:xfrm>
            <a:off x="6766560" y="1408176"/>
            <a:ext cx="2011680" cy="256032"/>
          </a:xfrm>
          <a:prstGeom prst="rect">
            <a:avLst/>
          </a:prstGeom>
          <a:noFill/>
          <a:ln/>
        </p:spPr>
        <p:txBody>
          <a:bodyPr wrap="square" rtlCol="0" anchor="ctr"/>
          <a:lstStyle/>
          <a:p>
            <a:pPr indent="0" marL="0">
              <a:buNone/>
            </a:pPr>
            <a:r>
              <a:rPr lang="en-US" sz="850" b="1" dirty="0">
                <a:solidFill>
                  <a:srgbClr val="0EA5E9"/>
                </a:solidFill>
                <a:latin typeface="Arial" pitchFamily="34" charset="0"/>
                <a:ea typeface="Arial" pitchFamily="34" charset="-122"/>
                <a:cs typeface="Arial" pitchFamily="34" charset="-120"/>
              </a:rPr>
              <a:t>eval_results.json</a:t>
            </a:r>
            <a:endParaRPr lang="en-US" sz="850" dirty="0"/>
          </a:p>
        </p:txBody>
      </p:sp>
      <p:sp>
        <p:nvSpPr>
          <p:cNvPr id="40" name="Text 38"/>
          <p:cNvSpPr/>
          <p:nvPr/>
        </p:nvSpPr>
        <p:spPr>
          <a:xfrm>
            <a:off x="6766560" y="1682496"/>
            <a:ext cx="2011680" cy="347472"/>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WER/CER global</a:t>
            </a:r>
            <a:endParaRPr lang="en-US" sz="850" dirty="0"/>
          </a:p>
          <a:p>
            <a:pPr indent="0" marL="0">
              <a:buNone/>
            </a:pPr>
            <a:r>
              <a:rPr lang="en-US" sz="850" dirty="0">
                <a:solidFill>
                  <a:srgbClr val="64748B"/>
                </a:solidFill>
                <a:latin typeface="Arial" pitchFamily="34" charset="0"/>
                <a:ea typeface="Arial" pitchFamily="34" charset="-122"/>
                <a:cs typeface="Arial" pitchFamily="34" charset="-120"/>
              </a:rPr>
              <a:t>Whisper vs CC YT</a:t>
            </a:r>
            <a:endParaRPr lang="en-US" sz="850" dirty="0"/>
          </a:p>
        </p:txBody>
      </p:sp>
      <p:sp>
        <p:nvSpPr>
          <p:cNvPr id="41" name="Shape 39"/>
          <p:cNvSpPr/>
          <p:nvPr/>
        </p:nvSpPr>
        <p:spPr>
          <a:xfrm>
            <a:off x="6720840" y="2240280"/>
            <a:ext cx="2103120" cy="749808"/>
          </a:xfrm>
          <a:prstGeom prst="rect">
            <a:avLst/>
          </a:prstGeom>
          <a:solidFill>
            <a:srgbClr val="FFFFFF"/>
          </a:solidFill>
          <a:ln w="12700">
            <a:solidFill>
              <a:srgbClr val="10B981"/>
            </a:solidFill>
            <a:prstDash val="solid"/>
          </a:ln>
        </p:spPr>
      </p:sp>
      <p:sp>
        <p:nvSpPr>
          <p:cNvPr id="42" name="Text 40"/>
          <p:cNvSpPr/>
          <p:nvPr/>
        </p:nvSpPr>
        <p:spPr>
          <a:xfrm>
            <a:off x="6766560" y="2295144"/>
            <a:ext cx="2011680" cy="256032"/>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dashboard.png</a:t>
            </a:r>
            <a:endParaRPr lang="en-US" sz="850" dirty="0"/>
          </a:p>
        </p:txBody>
      </p:sp>
      <p:sp>
        <p:nvSpPr>
          <p:cNvPr id="43" name="Text 41"/>
          <p:cNvSpPr/>
          <p:nvPr/>
        </p:nvSpPr>
        <p:spPr>
          <a:xfrm>
            <a:off x="6766560" y="2569464"/>
            <a:ext cx="2011680" cy="347472"/>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Dashboard</a:t>
            </a:r>
            <a:endParaRPr lang="en-US" sz="850" dirty="0"/>
          </a:p>
          <a:p>
            <a:pPr indent="0" marL="0">
              <a:buNone/>
            </a:pPr>
            <a:r>
              <a:rPr lang="en-US" sz="850" dirty="0">
                <a:solidFill>
                  <a:srgbClr val="64748B"/>
                </a:solidFill>
                <a:latin typeface="Arial" pitchFamily="34" charset="0"/>
                <a:ea typeface="Arial" pitchFamily="34" charset="-122"/>
                <a:cs typeface="Arial" pitchFamily="34" charset="-120"/>
              </a:rPr>
              <a:t>visuel complet</a:t>
            </a:r>
            <a:endParaRPr lang="en-US" sz="850" dirty="0"/>
          </a:p>
        </p:txBody>
      </p:sp>
      <p:sp>
        <p:nvSpPr>
          <p:cNvPr id="44" name="Shape 42"/>
          <p:cNvSpPr/>
          <p:nvPr/>
        </p:nvSpPr>
        <p:spPr>
          <a:xfrm>
            <a:off x="6720840" y="3127248"/>
            <a:ext cx="2103120" cy="749808"/>
          </a:xfrm>
          <a:prstGeom prst="rect">
            <a:avLst/>
          </a:prstGeom>
          <a:solidFill>
            <a:srgbClr val="FFFFFF"/>
          </a:solidFill>
          <a:ln w="12700">
            <a:solidFill>
              <a:srgbClr val="F97316"/>
            </a:solidFill>
            <a:prstDash val="solid"/>
          </a:ln>
        </p:spPr>
      </p:sp>
      <p:sp>
        <p:nvSpPr>
          <p:cNvPr id="45" name="Text 43"/>
          <p:cNvSpPr/>
          <p:nvPr/>
        </p:nvSpPr>
        <p:spPr>
          <a:xfrm>
            <a:off x="6766560" y="3182112"/>
            <a:ext cx="2011680" cy="256032"/>
          </a:xfrm>
          <a:prstGeom prst="rect">
            <a:avLst/>
          </a:prstGeom>
          <a:noFill/>
          <a:ln/>
        </p:spPr>
        <p:txBody>
          <a:bodyPr wrap="square" rtlCol="0" anchor="ctr"/>
          <a:lstStyle/>
          <a:p>
            <a:pPr indent="0" marL="0">
              <a:buNone/>
            </a:pPr>
            <a:r>
              <a:rPr lang="en-US" sz="850" b="1" dirty="0">
                <a:solidFill>
                  <a:srgbClr val="F97316"/>
                </a:solidFill>
                <a:latin typeface="Arial" pitchFamily="34" charset="0"/>
                <a:ea typeface="Arial" pitchFamily="34" charset="-122"/>
                <a:cs typeface="Arial" pitchFamily="34" charset="-120"/>
              </a:rPr>
              <a:t>SubQuality.xlsx</a:t>
            </a:r>
            <a:endParaRPr lang="en-US" sz="850" dirty="0"/>
          </a:p>
        </p:txBody>
      </p:sp>
      <p:sp>
        <p:nvSpPr>
          <p:cNvPr id="46" name="Text 44"/>
          <p:cNvSpPr/>
          <p:nvPr/>
        </p:nvSpPr>
        <p:spPr>
          <a:xfrm>
            <a:off x="6766560" y="3456432"/>
            <a:ext cx="2011680" cy="347472"/>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Excel 4 onglets</a:t>
            </a:r>
            <a:endParaRPr lang="en-US" sz="850" dirty="0"/>
          </a:p>
          <a:p>
            <a:pPr indent="0" marL="0">
              <a:buNone/>
            </a:pPr>
            <a:r>
              <a:rPr lang="en-US" sz="850" dirty="0">
                <a:solidFill>
                  <a:srgbClr val="64748B"/>
                </a:solidFill>
                <a:latin typeface="Arial" pitchFamily="34" charset="0"/>
                <a:ea typeface="Arial" pitchFamily="34" charset="-122"/>
                <a:cs typeface="Arial" pitchFamily="34" charset="-120"/>
              </a:rPr>
              <a:t>+ frames intégrées</a:t>
            </a:r>
            <a:endParaRPr lang="en-US" sz="850" dirty="0"/>
          </a:p>
        </p:txBody>
      </p:sp>
      <p:sp>
        <p:nvSpPr>
          <p:cNvPr id="47" name="Shape 45"/>
          <p:cNvSpPr/>
          <p:nvPr/>
        </p:nvSpPr>
        <p:spPr>
          <a:xfrm>
            <a:off x="6720840" y="4014216"/>
            <a:ext cx="2103120" cy="749808"/>
          </a:xfrm>
          <a:prstGeom prst="rect">
            <a:avLst/>
          </a:prstGeom>
          <a:solidFill>
            <a:srgbClr val="FFFFFF"/>
          </a:solidFill>
          <a:ln w="12700">
            <a:solidFill>
              <a:srgbClr val="EF4444"/>
            </a:solidFill>
            <a:prstDash val="solid"/>
          </a:ln>
        </p:spPr>
      </p:sp>
      <p:sp>
        <p:nvSpPr>
          <p:cNvPr id="48" name="Text 46"/>
          <p:cNvSpPr/>
          <p:nvPr/>
        </p:nvSpPr>
        <p:spPr>
          <a:xfrm>
            <a:off x="6766560" y="4069080"/>
            <a:ext cx="2011680" cy="256032"/>
          </a:xfrm>
          <a:prstGeom prst="rect">
            <a:avLst/>
          </a:prstGeom>
          <a:noFill/>
          <a:ln/>
        </p:spPr>
        <p:txBody>
          <a:bodyPr wrap="square" rtlCol="0" anchor="ctr"/>
          <a:lstStyle/>
          <a:p>
            <a:pPr indent="0" marL="0">
              <a:buNone/>
            </a:pPr>
            <a:r>
              <a:rPr lang="en-US" sz="850" b="1" dirty="0">
                <a:solidFill>
                  <a:srgbClr val="EF4444"/>
                </a:solidFill>
                <a:latin typeface="Arial" pitchFamily="34" charset="0"/>
                <a:ea typeface="Arial" pitchFamily="34" charset="-122"/>
                <a:cs typeface="Arial" pitchFamily="34" charset="-120"/>
              </a:rPr>
              <a:t>wildmoka_clips.json</a:t>
            </a:r>
            <a:endParaRPr lang="en-US" sz="850" dirty="0"/>
          </a:p>
        </p:txBody>
      </p:sp>
      <p:sp>
        <p:nvSpPr>
          <p:cNvPr id="49" name="Text 47"/>
          <p:cNvSpPr/>
          <p:nvPr/>
        </p:nvSpPr>
        <p:spPr>
          <a:xfrm>
            <a:off x="6766560" y="4343400"/>
            <a:ext cx="2011680" cy="347472"/>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Clips à corriger</a:t>
            </a:r>
            <a:endParaRPr lang="en-US" sz="850" dirty="0"/>
          </a:p>
          <a:p>
            <a:pPr indent="0" marL="0">
              <a:buNone/>
            </a:pPr>
            <a:r>
              <a:rPr lang="en-US" sz="850" dirty="0">
                <a:solidFill>
                  <a:srgbClr val="64748B"/>
                </a:solidFill>
                <a:latin typeface="Arial" pitchFamily="34" charset="0"/>
                <a:ea typeface="Arial" pitchFamily="34" charset="-122"/>
                <a:cs typeface="Arial" pitchFamily="34" charset="-120"/>
              </a:rPr>
              <a:t>(API Wildmoka)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Comprendre WER et CER</a:t>
            </a:r>
            <a:endParaRPr lang="en-US" sz="2600" dirty="0"/>
          </a:p>
        </p:txBody>
      </p:sp>
      <p:sp>
        <p:nvSpPr>
          <p:cNvPr id="4" name="Shape 2"/>
          <p:cNvSpPr/>
          <p:nvPr/>
        </p:nvSpPr>
        <p:spPr>
          <a:xfrm>
            <a:off x="365760" y="960120"/>
            <a:ext cx="4023360" cy="3840480"/>
          </a:xfrm>
          <a:prstGeom prst="rect">
            <a:avLst/>
          </a:prstGeom>
          <a:solidFill>
            <a:srgbClr val="EFF6FF"/>
          </a:solidFill>
          <a:ln w="12700">
            <a:solidFill>
              <a:srgbClr val="0EA5E9"/>
            </a:solidFill>
            <a:prstDash val="solid"/>
          </a:ln>
        </p:spPr>
      </p:sp>
      <p:sp>
        <p:nvSpPr>
          <p:cNvPr id="5" name="Shape 3"/>
          <p:cNvSpPr/>
          <p:nvPr/>
        </p:nvSpPr>
        <p:spPr>
          <a:xfrm>
            <a:off x="365760" y="960120"/>
            <a:ext cx="4023360" cy="502920"/>
          </a:xfrm>
          <a:prstGeom prst="rect">
            <a:avLst/>
          </a:prstGeom>
          <a:solidFill>
            <a:srgbClr val="0EA5E9"/>
          </a:solidFill>
          <a:ln/>
        </p:spPr>
      </p:sp>
      <p:sp>
        <p:nvSpPr>
          <p:cNvPr id="6" name="Text 4"/>
          <p:cNvSpPr/>
          <p:nvPr/>
        </p:nvSpPr>
        <p:spPr>
          <a:xfrm>
            <a:off x="365760" y="960120"/>
            <a:ext cx="402336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WER — Word Error Rate</a:t>
            </a:r>
            <a:endParaRPr lang="en-US" sz="1400" dirty="0"/>
          </a:p>
        </p:txBody>
      </p:sp>
      <p:sp>
        <p:nvSpPr>
          <p:cNvPr id="7" name="Text 5"/>
          <p:cNvSpPr/>
          <p:nvPr/>
        </p:nvSpPr>
        <p:spPr>
          <a:xfrm>
            <a:off x="502920" y="1572768"/>
            <a:ext cx="3749040" cy="3108960"/>
          </a:xfrm>
          <a:prstGeom prst="rect">
            <a:avLst/>
          </a:prstGeom>
          <a:noFill/>
          <a:ln/>
        </p:spPr>
        <p:txBody>
          <a:bodyPr wrap="square" rtlCol="0" anchor="t"/>
          <a:lstStyle/>
          <a:p>
            <a:pPr indent="0" marL="0">
              <a:buNone/>
            </a:pPr>
            <a:r>
              <a:rPr lang="en-US" sz="1100" dirty="0">
                <a:solidFill>
                  <a:srgbClr val="1A202C"/>
                </a:solidFill>
                <a:latin typeface="Arial" pitchFamily="34" charset="0"/>
                <a:ea typeface="Arial" pitchFamily="34" charset="-122"/>
                <a:cs typeface="Arial" pitchFamily="34" charset="-120"/>
              </a:rPr>
              <a:t>Mesure le taux d'erreur </a:t>
            </a:r>
            <a:pPr indent="0" marL="0">
              <a:buNone/>
            </a:pPr>
            <a:r>
              <a:rPr lang="en-US" sz="1100" b="1" dirty="0">
                <a:solidFill>
                  <a:srgbClr val="1A202C"/>
                </a:solidFill>
                <a:latin typeface="Arial" pitchFamily="34" charset="0"/>
                <a:ea typeface="Arial" pitchFamily="34" charset="-122"/>
                <a:cs typeface="Arial" pitchFamily="34" charset="-120"/>
              </a:rPr>
              <a:t>MOT par MOT</a:t>
            </a:r>
            <a:pPr indent="0" marL="0">
              <a:buNone/>
            </a:pPr>
            <a:r>
              <a:rPr lang="en-US" sz="1100" dirty="0">
                <a:solidFill>
                  <a:srgbClr val="1A202C"/>
                </a:solidFill>
                <a:latin typeface="Arial" pitchFamily="34" charset="0"/>
                <a:ea typeface="Arial" pitchFamily="34" charset="-122"/>
                <a:cs typeface="Arial" pitchFamily="34" charset="-120"/>
              </a:rPr>
              <a:t>.
</a:t>
            </a:r>
            <a:pPr indent="0" marL="0">
              <a:buNone/>
            </a:pPr>
            <a:r>
              <a:rPr lang="en-US" sz="1100" b="1" dirty="0">
                <a:solidFill>
                  <a:srgbClr val="1A202C"/>
                </a:solidFill>
                <a:latin typeface="Arial" pitchFamily="34" charset="0"/>
                <a:ea typeface="Arial" pitchFamily="34" charset="-122"/>
                <a:cs typeface="Arial" pitchFamily="34" charset="-120"/>
              </a:rPr>
              <a:t>Formule : </a:t>
            </a:r>
            <a:pPr indent="0" marL="0">
              <a:buNone/>
            </a:pPr>
            <a:r>
              <a:rPr lang="en-US" sz="1100" dirty="0">
                <a:solidFill>
                  <a:srgbClr val="1A202C"/>
                </a:solidFill>
                <a:latin typeface="Arial" pitchFamily="34" charset="0"/>
                <a:ea typeface="Arial" pitchFamily="34" charset="-122"/>
                <a:cs typeface="Arial" pitchFamily="34" charset="-120"/>
              </a:rPr>
              <a:t>mots faux ÷ nb mots référence
</a:t>
            </a:r>
            <a:pPr indent="0" marL="0">
              <a:buNone/>
            </a:pPr>
            <a:r>
              <a:rPr lang="en-US" sz="1100" b="1" dirty="0">
                <a:solidFill>
                  <a:srgbClr val="1A202C"/>
                </a:solidFill>
                <a:latin typeface="Arial" pitchFamily="34" charset="0"/>
                <a:ea typeface="Arial" pitchFamily="34" charset="-122"/>
                <a:cs typeface="Arial" pitchFamily="34" charset="-120"/>
              </a:rPr>
              <a:t>Exemple :
</a:t>
            </a:r>
            <a:pPr indent="0" marL="0">
              <a:buNone/>
            </a:pPr>
            <a:r>
              <a:rPr lang="en-US" sz="1100" dirty="0">
                <a:solidFill>
                  <a:srgbClr val="10B981"/>
                </a:solidFill>
                <a:latin typeface="Arial" pitchFamily="34" charset="0"/>
                <a:ea typeface="Arial" pitchFamily="34" charset="-122"/>
                <a:cs typeface="Arial" pitchFamily="34" charset="-120"/>
              </a:rPr>
              <a:t>Réf : «5 morts en 24h»
</a:t>
            </a:r>
            <a:pPr indent="0" marL="0">
              <a:buNone/>
            </a:pPr>
            <a:r>
              <a:rPr lang="en-US" sz="1100" dirty="0">
                <a:solidFill>
                  <a:srgbClr val="EF4444"/>
                </a:solidFill>
                <a:latin typeface="Arial" pitchFamily="34" charset="0"/>
                <a:ea typeface="Arial" pitchFamily="34" charset="-122"/>
                <a:cs typeface="Arial" pitchFamily="34" charset="-120"/>
              </a:rPr>
              <a:t>STT : «5 mois en 24h»
</a:t>
            </a:r>
            <a:pPr indent="0" marL="0">
              <a:buNone/>
            </a:pPr>
            <a:r>
              <a:rPr lang="en-US" sz="1100" i="1" dirty="0">
                <a:solidFill>
                  <a:srgbClr val="1A202C"/>
                </a:solidFill>
                <a:latin typeface="Arial" pitchFamily="34" charset="0"/>
                <a:ea typeface="Arial" pitchFamily="34" charset="-122"/>
                <a:cs typeface="Arial" pitchFamily="34" charset="-120"/>
              </a:rPr>
              <a:t>→ WER = 1/4 = </a:t>
            </a:r>
            <a:pPr indent="0" marL="0">
              <a:buNone/>
            </a:pPr>
            <a:r>
              <a:rPr lang="en-US" sz="1100" b="1" dirty="0">
                <a:solidFill>
                  <a:srgbClr val="EF4444"/>
                </a:solidFill>
                <a:latin typeface="Arial" pitchFamily="34" charset="0"/>
                <a:ea typeface="Arial" pitchFamily="34" charset="-122"/>
                <a:cs typeface="Arial" pitchFamily="34" charset="-120"/>
              </a:rPr>
              <a:t>25%
</a:t>
            </a:r>
            <a:pPr indent="0" marL="0">
              <a:buNone/>
            </a:pPr>
            <a:r>
              <a:rPr lang="en-US" sz="1100" b="1" dirty="0">
                <a:solidFill>
                  <a:srgbClr val="1A202C"/>
                </a:solidFill>
                <a:latin typeface="Arial" pitchFamily="34" charset="0"/>
                <a:ea typeface="Arial" pitchFamily="34" charset="-122"/>
                <a:cs typeface="Arial" pitchFamily="34" charset="-120"/>
              </a:rPr>
              <a:t>Seuil alerte Wildmoka : </a:t>
            </a:r>
            <a:pPr indent="0" marL="0">
              <a:buNone/>
            </a:pPr>
            <a:r>
              <a:rPr lang="en-US" sz="1100" b="1" dirty="0">
                <a:solidFill>
                  <a:srgbClr val="EF4444"/>
                </a:solidFill>
                <a:latin typeface="Arial" pitchFamily="34" charset="0"/>
                <a:ea typeface="Arial" pitchFamily="34" charset="-122"/>
                <a:cs typeface="Arial" pitchFamily="34" charset="-120"/>
              </a:rPr>
              <a:t>WER ≥ 25%</a:t>
            </a:r>
            <a:endParaRPr lang="en-US" sz="1100" dirty="0"/>
          </a:p>
        </p:txBody>
      </p:sp>
      <p:sp>
        <p:nvSpPr>
          <p:cNvPr id="8" name="Shape 6"/>
          <p:cNvSpPr/>
          <p:nvPr/>
        </p:nvSpPr>
        <p:spPr>
          <a:xfrm>
            <a:off x="4754880" y="960120"/>
            <a:ext cx="4023360" cy="3840480"/>
          </a:xfrm>
          <a:prstGeom prst="rect">
            <a:avLst/>
          </a:prstGeom>
          <a:solidFill>
            <a:srgbClr val="F0FDF4"/>
          </a:solidFill>
          <a:ln w="12700">
            <a:solidFill>
              <a:srgbClr val="8B5CF6"/>
            </a:solidFill>
            <a:prstDash val="solid"/>
          </a:ln>
        </p:spPr>
      </p:sp>
      <p:sp>
        <p:nvSpPr>
          <p:cNvPr id="9" name="Shape 7"/>
          <p:cNvSpPr/>
          <p:nvPr/>
        </p:nvSpPr>
        <p:spPr>
          <a:xfrm>
            <a:off x="4754880" y="960120"/>
            <a:ext cx="4023360" cy="502920"/>
          </a:xfrm>
          <a:prstGeom prst="rect">
            <a:avLst/>
          </a:prstGeom>
          <a:solidFill>
            <a:srgbClr val="8B5CF6"/>
          </a:solidFill>
          <a:ln/>
        </p:spPr>
      </p:sp>
      <p:sp>
        <p:nvSpPr>
          <p:cNvPr id="10" name="Text 8"/>
          <p:cNvSpPr/>
          <p:nvPr/>
        </p:nvSpPr>
        <p:spPr>
          <a:xfrm>
            <a:off x="4754880" y="960120"/>
            <a:ext cx="402336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CER — Character Error Rate</a:t>
            </a:r>
            <a:endParaRPr lang="en-US" sz="1400" dirty="0"/>
          </a:p>
        </p:txBody>
      </p:sp>
      <p:sp>
        <p:nvSpPr>
          <p:cNvPr id="11" name="Text 9"/>
          <p:cNvSpPr/>
          <p:nvPr/>
        </p:nvSpPr>
        <p:spPr>
          <a:xfrm>
            <a:off x="4892040" y="1572768"/>
            <a:ext cx="3749040" cy="3108960"/>
          </a:xfrm>
          <a:prstGeom prst="rect">
            <a:avLst/>
          </a:prstGeom>
          <a:noFill/>
          <a:ln/>
        </p:spPr>
        <p:txBody>
          <a:bodyPr wrap="square" rtlCol="0" anchor="t"/>
          <a:lstStyle/>
          <a:p>
            <a:pPr indent="0" marL="0">
              <a:buNone/>
            </a:pPr>
            <a:r>
              <a:rPr lang="en-US" sz="1100" dirty="0">
                <a:solidFill>
                  <a:srgbClr val="1A202C"/>
                </a:solidFill>
                <a:latin typeface="Arial" pitchFamily="34" charset="0"/>
                <a:ea typeface="Arial" pitchFamily="34" charset="-122"/>
                <a:cs typeface="Arial" pitchFamily="34" charset="-120"/>
              </a:rPr>
              <a:t>Même principe, </a:t>
            </a:r>
            <a:pPr indent="0" marL="0">
              <a:buNone/>
            </a:pPr>
            <a:r>
              <a:rPr lang="en-US" sz="1100" b="1" dirty="0">
                <a:solidFill>
                  <a:srgbClr val="1A202C"/>
                </a:solidFill>
                <a:latin typeface="Arial" pitchFamily="34" charset="0"/>
                <a:ea typeface="Arial" pitchFamily="34" charset="-122"/>
                <a:cs typeface="Arial" pitchFamily="34" charset="-120"/>
              </a:rPr>
              <a:t>LETTRE par LETTRE</a:t>
            </a:r>
            <a:pPr indent="0" marL="0">
              <a:buNone/>
            </a:pPr>
            <a:r>
              <a:rPr lang="en-US" sz="1100" dirty="0">
                <a:solidFill>
                  <a:srgbClr val="1A202C"/>
                </a:solidFill>
                <a:latin typeface="Arial" pitchFamily="34" charset="0"/>
                <a:ea typeface="Arial" pitchFamily="34" charset="-122"/>
                <a:cs typeface="Arial" pitchFamily="34" charset="-120"/>
              </a:rPr>
              <a:t>.
</a:t>
            </a:r>
            <a:pPr indent="0" marL="0">
              <a:buNone/>
            </a:pPr>
            <a:r>
              <a:rPr lang="en-US" sz="1100" b="1" dirty="0">
                <a:solidFill>
                  <a:srgbClr val="1A202C"/>
                </a:solidFill>
                <a:latin typeface="Arial" pitchFamily="34" charset="0"/>
                <a:ea typeface="Arial" pitchFamily="34" charset="-122"/>
                <a:cs typeface="Arial" pitchFamily="34" charset="-120"/>
              </a:rPr>
              <a:t>Toujours inférieur au WER</a:t>
            </a:r>
            <a:pPr indent="0" marL="0">
              <a:buNone/>
            </a:pPr>
            <a:r>
              <a:rPr lang="en-US" sz="1100" dirty="0">
                <a:solidFill>
                  <a:srgbClr val="1A202C"/>
                </a:solidFill>
                <a:latin typeface="Arial" pitchFamily="34" charset="0"/>
                <a:ea typeface="Arial" pitchFamily="34" charset="-122"/>
                <a:cs typeface="Arial" pitchFamily="34" charset="-120"/>
              </a:rPr>
              <a:t> car plus fin.
</a:t>
            </a:r>
            <a:pPr indent="0" marL="0">
              <a:buNone/>
            </a:pPr>
            <a:r>
              <a:rPr lang="en-US" sz="1100" b="1" dirty="0">
                <a:solidFill>
                  <a:srgbClr val="1A202C"/>
                </a:solidFill>
                <a:latin typeface="Arial" pitchFamily="34" charset="0"/>
                <a:ea typeface="Arial" pitchFamily="34" charset="-122"/>
                <a:cs typeface="Arial" pitchFamily="34" charset="-120"/>
              </a:rPr>
              <a:t>Exemple :
</a:t>
            </a:r>
            <a:pPr indent="0" marL="0">
              <a:buNone/>
            </a:pPr>
            <a:r>
              <a:rPr lang="en-US" sz="1100" dirty="0">
                <a:solidFill>
                  <a:srgbClr val="10B981"/>
                </a:solidFill>
                <a:latin typeface="Arial" pitchFamily="34" charset="0"/>
                <a:ea typeface="Arial" pitchFamily="34" charset="-122"/>
                <a:cs typeface="Arial" pitchFamily="34" charset="-120"/>
              </a:rPr>
              <a:t>Réf : «Flixbus» (7 lettres)
</a:t>
            </a:r>
            <a:pPr indent="0" marL="0">
              <a:buNone/>
            </a:pPr>
            <a:r>
              <a:rPr lang="en-US" sz="1100" dirty="0">
                <a:solidFill>
                  <a:srgbClr val="EF4444"/>
                </a:solidFill>
                <a:latin typeface="Arial" pitchFamily="34" charset="0"/>
                <a:ea typeface="Arial" pitchFamily="34" charset="-122"/>
                <a:cs typeface="Arial" pitchFamily="34" charset="-120"/>
              </a:rPr>
              <a:t>STT : «Figsbus» (2 fausses)
</a:t>
            </a:r>
            <a:pPr indent="0" marL="0">
              <a:buNone/>
            </a:pPr>
            <a:r>
              <a:rPr lang="en-US" sz="1100" b="1" dirty="0">
                <a:solidFill>
                  <a:srgbClr val="EF4444"/>
                </a:solidFill>
                <a:latin typeface="Arial" pitchFamily="34" charset="0"/>
                <a:ea typeface="Arial" pitchFamily="34" charset="-122"/>
                <a:cs typeface="Arial" pitchFamily="34" charset="-120"/>
              </a:rPr>
              <a:t>WER = 100%</a:t>
            </a:r>
            <a:pPr indent="0" marL="0">
              <a:buNone/>
            </a:pPr>
            <a:r>
              <a:rPr lang="en-US" sz="1100" dirty="0">
                <a:solidFill>
                  <a:srgbClr val="1A202C"/>
                </a:solidFill>
                <a:latin typeface="Arial" pitchFamily="34" charset="0"/>
                <a:ea typeface="Arial" pitchFamily="34" charset="-122"/>
                <a:cs typeface="Arial" pitchFamily="34" charset="-120"/>
              </a:rPr>
              <a:t> (1 mot / 1)
</a:t>
            </a:r>
            <a:pPr indent="0" marL="0">
              <a:buNone/>
            </a:pPr>
            <a:r>
              <a:rPr lang="en-US" sz="1100" b="1" dirty="0">
                <a:solidFill>
                  <a:srgbClr val="8B5CF6"/>
                </a:solidFill>
                <a:latin typeface="Arial" pitchFamily="34" charset="0"/>
                <a:ea typeface="Arial" pitchFamily="34" charset="-122"/>
                <a:cs typeface="Arial" pitchFamily="34" charset="-120"/>
              </a:rPr>
              <a:t>CER = 28%</a:t>
            </a:r>
            <a:pPr indent="0" marL="0">
              <a:buNone/>
            </a:pPr>
            <a:r>
              <a:rPr lang="en-US" sz="1100" dirty="0">
                <a:solidFill>
                  <a:srgbClr val="1A202C"/>
                </a:solidFill>
                <a:latin typeface="Arial" pitchFamily="34" charset="0"/>
                <a:ea typeface="Arial" pitchFamily="34" charset="-122"/>
                <a:cs typeface="Arial" pitchFamily="34" charset="-120"/>
              </a:rPr>
              <a:t> (2 lettres / 7)
</a:t>
            </a:r>
            <a:pPr indent="0" marL="0">
              <a:buNone/>
            </a:pPr>
            <a:r>
              <a:rPr lang="en-US" sz="1100" i="1" dirty="0">
                <a:solidFill>
                  <a:srgbClr val="8B5CF6"/>
                </a:solidFill>
                <a:latin typeface="Arial" pitchFamily="34" charset="0"/>
                <a:ea typeface="Arial" pitchFamily="34" charset="-122"/>
                <a:cs typeface="Arial" pitchFamily="34" charset="-120"/>
              </a:rPr>
              <a:t>→ Le mot est presque correct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Résultats — WER par segment (Whisper base)</a:t>
            </a:r>
            <a:endParaRPr lang="en-US" sz="2600" dirty="0"/>
          </a:p>
        </p:txBody>
      </p:sp>
      <p:graphicFrame>
        <p:nvGraphicFramePr>
          <p:cNvPr id="4" name="Chart 0" descr=""/>
          <p:cNvGraphicFramePr/>
          <p:nvPr/>
        </p:nvGraphicFramePr>
        <p:xfrm>
          <a:off x="274320" y="868680"/>
          <a:ext cx="640080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858000" y="1005840"/>
            <a:ext cx="228600" cy="228600"/>
          </a:xfrm>
          <a:prstGeom prst="rect">
            <a:avLst/>
          </a:prstGeom>
          <a:solidFill>
            <a:srgbClr val="10B981"/>
          </a:solidFill>
          <a:ln/>
        </p:spPr>
      </p:sp>
      <p:sp>
        <p:nvSpPr>
          <p:cNvPr id="6" name="Text 3"/>
          <p:cNvSpPr/>
          <p:nvPr/>
        </p:nvSpPr>
        <p:spPr>
          <a:xfrm>
            <a:off x="7150608" y="969264"/>
            <a:ext cx="1828800" cy="320040"/>
          </a:xfrm>
          <a:prstGeom prst="rect">
            <a:avLst/>
          </a:prstGeom>
          <a:noFill/>
          <a:ln/>
        </p:spPr>
        <p:txBody>
          <a:bodyPr wrap="square" rtlCol="0" anchor="ctr"/>
          <a:lstStyle/>
          <a:p>
            <a:pPr indent="0" marL="0">
              <a:buNone/>
            </a:pPr>
            <a:r>
              <a:rPr lang="en-US" sz="1000" dirty="0">
                <a:solidFill>
                  <a:srgbClr val="1A202C"/>
                </a:solidFill>
                <a:latin typeface="Arial" pitchFamily="34" charset="0"/>
                <a:ea typeface="Arial" pitchFamily="34" charset="-122"/>
                <a:cs typeface="Arial" pitchFamily="34" charset="-120"/>
              </a:rPr>
              <a:t>Parfait (0%)</a:t>
            </a:r>
            <a:endParaRPr lang="en-US" sz="1000" dirty="0"/>
          </a:p>
        </p:txBody>
      </p:sp>
      <p:sp>
        <p:nvSpPr>
          <p:cNvPr id="7" name="Shape 4"/>
          <p:cNvSpPr/>
          <p:nvPr/>
        </p:nvSpPr>
        <p:spPr>
          <a:xfrm>
            <a:off x="6858000" y="1426464"/>
            <a:ext cx="228600" cy="228600"/>
          </a:xfrm>
          <a:prstGeom prst="rect">
            <a:avLst/>
          </a:prstGeom>
          <a:solidFill>
            <a:srgbClr val="F59E0B"/>
          </a:solidFill>
          <a:ln/>
        </p:spPr>
      </p:sp>
      <p:sp>
        <p:nvSpPr>
          <p:cNvPr id="8" name="Text 5"/>
          <p:cNvSpPr/>
          <p:nvPr/>
        </p:nvSpPr>
        <p:spPr>
          <a:xfrm>
            <a:off x="7150608" y="1389888"/>
            <a:ext cx="1828800" cy="320040"/>
          </a:xfrm>
          <a:prstGeom prst="rect">
            <a:avLst/>
          </a:prstGeom>
          <a:noFill/>
          <a:ln/>
        </p:spPr>
        <p:txBody>
          <a:bodyPr wrap="square" rtlCol="0" anchor="ctr"/>
          <a:lstStyle/>
          <a:p>
            <a:pPr indent="0" marL="0">
              <a:buNone/>
            </a:pPr>
            <a:r>
              <a:rPr lang="en-US" sz="1000" dirty="0">
                <a:solidFill>
                  <a:srgbClr val="1A202C"/>
                </a:solidFill>
                <a:latin typeface="Arial" pitchFamily="34" charset="0"/>
                <a:ea typeface="Arial" pitchFamily="34" charset="-122"/>
                <a:cs typeface="Arial" pitchFamily="34" charset="-120"/>
              </a:rPr>
              <a:t>Bon (&lt; 10%)</a:t>
            </a:r>
            <a:endParaRPr lang="en-US" sz="1000" dirty="0"/>
          </a:p>
        </p:txBody>
      </p:sp>
      <p:sp>
        <p:nvSpPr>
          <p:cNvPr id="9" name="Shape 6"/>
          <p:cNvSpPr/>
          <p:nvPr/>
        </p:nvSpPr>
        <p:spPr>
          <a:xfrm>
            <a:off x="6858000" y="1847088"/>
            <a:ext cx="228600" cy="228600"/>
          </a:xfrm>
          <a:prstGeom prst="rect">
            <a:avLst/>
          </a:prstGeom>
          <a:solidFill>
            <a:srgbClr val="F97316"/>
          </a:solidFill>
          <a:ln/>
        </p:spPr>
      </p:sp>
      <p:sp>
        <p:nvSpPr>
          <p:cNvPr id="10" name="Text 7"/>
          <p:cNvSpPr/>
          <p:nvPr/>
        </p:nvSpPr>
        <p:spPr>
          <a:xfrm>
            <a:off x="7150608" y="1810512"/>
            <a:ext cx="1828800" cy="320040"/>
          </a:xfrm>
          <a:prstGeom prst="rect">
            <a:avLst/>
          </a:prstGeom>
          <a:noFill/>
          <a:ln/>
        </p:spPr>
        <p:txBody>
          <a:bodyPr wrap="square" rtlCol="0" anchor="ctr"/>
          <a:lstStyle/>
          <a:p>
            <a:pPr indent="0" marL="0">
              <a:buNone/>
            </a:pPr>
            <a:r>
              <a:rPr lang="en-US" sz="1000" dirty="0">
                <a:solidFill>
                  <a:srgbClr val="1A202C"/>
                </a:solidFill>
                <a:latin typeface="Arial" pitchFamily="34" charset="0"/>
                <a:ea typeface="Arial" pitchFamily="34" charset="-122"/>
                <a:cs typeface="Arial" pitchFamily="34" charset="-120"/>
              </a:rPr>
              <a:t>Acceptable (&lt; 25%)</a:t>
            </a:r>
            <a:endParaRPr lang="en-US" sz="1000" dirty="0"/>
          </a:p>
        </p:txBody>
      </p:sp>
      <p:sp>
        <p:nvSpPr>
          <p:cNvPr id="11" name="Shape 8"/>
          <p:cNvSpPr/>
          <p:nvPr/>
        </p:nvSpPr>
        <p:spPr>
          <a:xfrm>
            <a:off x="6858000" y="2267712"/>
            <a:ext cx="228600" cy="228600"/>
          </a:xfrm>
          <a:prstGeom prst="rect">
            <a:avLst/>
          </a:prstGeom>
          <a:solidFill>
            <a:srgbClr val="EF4444"/>
          </a:solidFill>
          <a:ln/>
        </p:spPr>
      </p:sp>
      <p:sp>
        <p:nvSpPr>
          <p:cNvPr id="12" name="Text 9"/>
          <p:cNvSpPr/>
          <p:nvPr/>
        </p:nvSpPr>
        <p:spPr>
          <a:xfrm>
            <a:off x="7150608" y="2231136"/>
            <a:ext cx="1828800" cy="320040"/>
          </a:xfrm>
          <a:prstGeom prst="rect">
            <a:avLst/>
          </a:prstGeom>
          <a:noFill/>
          <a:ln/>
        </p:spPr>
        <p:txBody>
          <a:bodyPr wrap="square" rtlCol="0" anchor="ctr"/>
          <a:lstStyle/>
          <a:p>
            <a:pPr indent="0" marL="0">
              <a:buNone/>
            </a:pPr>
            <a:r>
              <a:rPr lang="en-US" sz="1000" dirty="0">
                <a:solidFill>
                  <a:srgbClr val="1A202C"/>
                </a:solidFill>
                <a:latin typeface="Arial" pitchFamily="34" charset="0"/>
                <a:ea typeface="Arial" pitchFamily="34" charset="-122"/>
                <a:cs typeface="Arial" pitchFamily="34" charset="-120"/>
              </a:rPr>
              <a:t>À corriger (≥ 25%)</a:t>
            </a:r>
            <a:endParaRPr lang="en-US" sz="1000" dirty="0"/>
          </a:p>
        </p:txBody>
      </p:sp>
      <p:sp>
        <p:nvSpPr>
          <p:cNvPr id="13" name="Shape 10"/>
          <p:cNvSpPr/>
          <p:nvPr/>
        </p:nvSpPr>
        <p:spPr>
          <a:xfrm>
            <a:off x="6812280" y="2834640"/>
            <a:ext cx="2194560" cy="603504"/>
          </a:xfrm>
          <a:prstGeom prst="rect">
            <a:avLst/>
          </a:prstGeom>
          <a:solidFill>
            <a:srgbClr val="F4F6FA"/>
          </a:solidFill>
          <a:ln w="12700">
            <a:solidFill>
              <a:srgbClr val="0EA5E9"/>
            </a:solidFill>
            <a:prstDash val="solid"/>
          </a:ln>
        </p:spPr>
      </p:sp>
      <p:sp>
        <p:nvSpPr>
          <p:cNvPr id="14" name="Text 11"/>
          <p:cNvSpPr/>
          <p:nvPr/>
        </p:nvSpPr>
        <p:spPr>
          <a:xfrm>
            <a:off x="6812280" y="2834640"/>
            <a:ext cx="914400" cy="603504"/>
          </a:xfrm>
          <a:prstGeom prst="rect">
            <a:avLst/>
          </a:prstGeom>
          <a:noFill/>
          <a:ln/>
        </p:spPr>
        <p:txBody>
          <a:bodyPr wrap="square" rtlCol="0" anchor="ctr"/>
          <a:lstStyle/>
          <a:p>
            <a:pPr algn="ctr" indent="0" marL="0">
              <a:buNone/>
            </a:pPr>
            <a:r>
              <a:rPr lang="en-US" sz="1800" b="1" dirty="0">
                <a:solidFill>
                  <a:srgbClr val="0EA5E9"/>
                </a:solidFill>
                <a:latin typeface="Arial Black" pitchFamily="34" charset="0"/>
                <a:ea typeface="Arial Black" pitchFamily="34" charset="-122"/>
                <a:cs typeface="Arial Black" pitchFamily="34" charset="-120"/>
              </a:rPr>
              <a:t>22.8%</a:t>
            </a:r>
            <a:endParaRPr lang="en-US" sz="1800" dirty="0"/>
          </a:p>
        </p:txBody>
      </p:sp>
      <p:sp>
        <p:nvSpPr>
          <p:cNvPr id="15" name="Text 12"/>
          <p:cNvSpPr/>
          <p:nvPr/>
        </p:nvSpPr>
        <p:spPr>
          <a:xfrm>
            <a:off x="7726680" y="2834640"/>
            <a:ext cx="1280160" cy="603504"/>
          </a:xfrm>
          <a:prstGeom prst="rect">
            <a:avLst/>
          </a:prstGeom>
          <a:noFill/>
          <a:ln/>
        </p:spPr>
        <p:txBody>
          <a:bodyPr wrap="square" rtlCol="0" anchor="ctr"/>
          <a:lstStyle/>
          <a:p>
            <a:pPr indent="0" marL="0">
              <a:buNone/>
            </a:pPr>
            <a:r>
              <a:rPr lang="en-US" sz="950" dirty="0">
                <a:solidFill>
                  <a:srgbClr val="64748B"/>
                </a:solidFill>
              </a:rPr>
              <a:t>WER moyen</a:t>
            </a:r>
            <a:endParaRPr lang="en-US" sz="950" dirty="0"/>
          </a:p>
        </p:txBody>
      </p:sp>
      <p:sp>
        <p:nvSpPr>
          <p:cNvPr id="16" name="Shape 13"/>
          <p:cNvSpPr/>
          <p:nvPr/>
        </p:nvSpPr>
        <p:spPr>
          <a:xfrm>
            <a:off x="6812280" y="3529584"/>
            <a:ext cx="2194560" cy="603504"/>
          </a:xfrm>
          <a:prstGeom prst="rect">
            <a:avLst/>
          </a:prstGeom>
          <a:solidFill>
            <a:srgbClr val="F4F6FA"/>
          </a:solidFill>
          <a:ln w="12700">
            <a:solidFill>
              <a:srgbClr val="10B981"/>
            </a:solidFill>
            <a:prstDash val="solid"/>
          </a:ln>
        </p:spPr>
      </p:sp>
      <p:sp>
        <p:nvSpPr>
          <p:cNvPr id="17" name="Text 14"/>
          <p:cNvSpPr/>
          <p:nvPr/>
        </p:nvSpPr>
        <p:spPr>
          <a:xfrm>
            <a:off x="6812280" y="3529584"/>
            <a:ext cx="914400" cy="603504"/>
          </a:xfrm>
          <a:prstGeom prst="rect">
            <a:avLst/>
          </a:prstGeom>
          <a:noFill/>
          <a:ln/>
        </p:spPr>
        <p:txBody>
          <a:bodyPr wrap="square" rtlCol="0" anchor="ctr"/>
          <a:lstStyle/>
          <a:p>
            <a:pPr algn="ctr" indent="0" marL="0">
              <a:buNone/>
            </a:pPr>
            <a:r>
              <a:rPr lang="en-US" sz="1800" b="1" dirty="0">
                <a:solidFill>
                  <a:srgbClr val="10B981"/>
                </a:solidFill>
                <a:latin typeface="Arial Black" pitchFamily="34" charset="0"/>
                <a:ea typeface="Arial Black" pitchFamily="34" charset="-122"/>
                <a:cs typeface="Arial Black" pitchFamily="34" charset="-120"/>
              </a:rPr>
              <a:t>2/19</a:t>
            </a:r>
            <a:endParaRPr lang="en-US" sz="1800" dirty="0"/>
          </a:p>
        </p:txBody>
      </p:sp>
      <p:sp>
        <p:nvSpPr>
          <p:cNvPr id="18" name="Text 15"/>
          <p:cNvSpPr/>
          <p:nvPr/>
        </p:nvSpPr>
        <p:spPr>
          <a:xfrm>
            <a:off x="7726680" y="3529584"/>
            <a:ext cx="1280160" cy="603504"/>
          </a:xfrm>
          <a:prstGeom prst="rect">
            <a:avLst/>
          </a:prstGeom>
          <a:noFill/>
          <a:ln/>
        </p:spPr>
        <p:txBody>
          <a:bodyPr wrap="square" rtlCol="0" anchor="ctr"/>
          <a:lstStyle/>
          <a:p>
            <a:pPr indent="0" marL="0">
              <a:buNone/>
            </a:pPr>
            <a:r>
              <a:rPr lang="en-US" sz="950" dirty="0">
                <a:solidFill>
                  <a:srgbClr val="64748B"/>
                </a:solidFill>
              </a:rPr>
              <a:t>Parfaits</a:t>
            </a:r>
            <a:endParaRPr lang="en-US" sz="950" dirty="0"/>
          </a:p>
        </p:txBody>
      </p:sp>
      <p:sp>
        <p:nvSpPr>
          <p:cNvPr id="19" name="Shape 16"/>
          <p:cNvSpPr/>
          <p:nvPr/>
        </p:nvSpPr>
        <p:spPr>
          <a:xfrm>
            <a:off x="6812280" y="4224528"/>
            <a:ext cx="2194560" cy="603504"/>
          </a:xfrm>
          <a:prstGeom prst="rect">
            <a:avLst/>
          </a:prstGeom>
          <a:solidFill>
            <a:srgbClr val="F4F6FA"/>
          </a:solidFill>
          <a:ln w="12700">
            <a:solidFill>
              <a:srgbClr val="EF4444"/>
            </a:solidFill>
            <a:prstDash val="solid"/>
          </a:ln>
        </p:spPr>
      </p:sp>
      <p:sp>
        <p:nvSpPr>
          <p:cNvPr id="20" name="Text 17"/>
          <p:cNvSpPr/>
          <p:nvPr/>
        </p:nvSpPr>
        <p:spPr>
          <a:xfrm>
            <a:off x="6812280" y="4224528"/>
            <a:ext cx="914400" cy="603504"/>
          </a:xfrm>
          <a:prstGeom prst="rect">
            <a:avLst/>
          </a:prstGeom>
          <a:noFill/>
          <a:ln/>
        </p:spPr>
        <p:txBody>
          <a:bodyPr wrap="square" rtlCol="0" anchor="ctr"/>
          <a:lstStyle/>
          <a:p>
            <a:pPr algn="ctr" indent="0" marL="0">
              <a:buNone/>
            </a:pPr>
            <a:r>
              <a:rPr lang="en-US" sz="1800" b="1" dirty="0">
                <a:solidFill>
                  <a:srgbClr val="EF4444"/>
                </a:solidFill>
                <a:latin typeface="Arial Black" pitchFamily="34" charset="0"/>
                <a:ea typeface="Arial Black" pitchFamily="34" charset="-122"/>
                <a:cs typeface="Arial Black" pitchFamily="34" charset="-120"/>
              </a:rPr>
              <a:t>8/19</a:t>
            </a:r>
            <a:endParaRPr lang="en-US" sz="1800" dirty="0"/>
          </a:p>
        </p:txBody>
      </p:sp>
      <p:sp>
        <p:nvSpPr>
          <p:cNvPr id="21" name="Text 18"/>
          <p:cNvSpPr/>
          <p:nvPr/>
        </p:nvSpPr>
        <p:spPr>
          <a:xfrm>
            <a:off x="7726680" y="4224528"/>
            <a:ext cx="1280160" cy="603504"/>
          </a:xfrm>
          <a:prstGeom prst="rect">
            <a:avLst/>
          </a:prstGeom>
          <a:noFill/>
          <a:ln/>
        </p:spPr>
        <p:txBody>
          <a:bodyPr wrap="square" rtlCol="0" anchor="ctr"/>
          <a:lstStyle/>
          <a:p>
            <a:pPr indent="0" marL="0">
              <a:buNone/>
            </a:pPr>
            <a:r>
              <a:rPr lang="en-US" sz="950" dirty="0">
                <a:solidFill>
                  <a:srgbClr val="64748B"/>
                </a:solidFill>
              </a:rPr>
              <a:t>Alertes Wildmoka</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Whisper vs CC YouTube — Comparaison</a:t>
            </a:r>
            <a:endParaRPr lang="en-US" sz="2600" dirty="0"/>
          </a:p>
        </p:txBody>
      </p:sp>
      <p:sp>
        <p:nvSpPr>
          <p:cNvPr id="4" name="Text 2"/>
          <p:cNvSpPr/>
          <p:nvPr/>
        </p:nvSpPr>
        <p:spPr>
          <a:xfrm>
            <a:off x="365760" y="822960"/>
            <a:ext cx="8412480" cy="320040"/>
          </a:xfrm>
          <a:prstGeom prst="rect">
            <a:avLst/>
          </a:prstGeom>
          <a:noFill/>
          <a:ln/>
        </p:spPr>
        <p:txBody>
          <a:bodyPr wrap="square" rtlCol="0" anchor="ctr"/>
          <a:lstStyle/>
          <a:p>
            <a:pPr indent="0" marL="0">
              <a:buNone/>
            </a:pPr>
            <a:r>
              <a:rPr lang="en-US" sz="1200" i="1" dirty="0">
                <a:solidFill>
                  <a:srgbClr val="64748B"/>
                </a:solidFill>
                <a:latin typeface="Arial" pitchFamily="34" charset="0"/>
                <a:ea typeface="Arial" pitchFamily="34" charset="-122"/>
                <a:cs typeface="Arial" pitchFamily="34" charset="-120"/>
              </a:rPr>
              <a:t>Deux moteurs STT évalués contre la même référence terrain</a:t>
            </a:r>
            <a:endParaRPr lang="en-US" sz="1200" dirty="0"/>
          </a:p>
        </p:txBody>
      </p:sp>
      <p:graphicFrame>
        <p:nvGraphicFramePr>
          <p:cNvPr id="5" name="Chart 0" descr=""/>
          <p:cNvGraphicFramePr/>
          <p:nvPr/>
        </p:nvGraphicFramePr>
        <p:xfrm>
          <a:off x="274320" y="1188720"/>
          <a:ext cx="475488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120640" y="1188720"/>
          <a:ext cx="3794760" cy="3474720"/>
        </p:xfrm>
        <a:graphic>
          <a:graphicData uri="http://schemas.openxmlformats.org/drawingml/2006/table">
            <a:tbl>
              <a:tblPr/>
              <a:tblGrid>
                <a:gridCol w="1645920"/>
                <a:gridCol w="1005840"/>
                <a:gridCol w="1005840"/>
                <a:gridCol w="1051560"/>
              </a:tblGrid>
              <a:tr h="694944">
                <a:tc>
                  <a:txBody>
                    <a:bodyPr/>
                    <a:lstStyle/>
                    <a:p>
                      <a:pPr algn="ctr" indent="0" marL="0">
                        <a:buNone/>
                      </a:pPr>
                      <a:r>
                        <a:rPr lang="en-US" sz="1000" b="1" dirty="0">
                          <a:solidFill>
                            <a:srgbClr val="1A202C"/>
                          </a:solidFill>
                          <a:latin typeface="Arial" pitchFamily="34" charset="0"/>
                          <a:ea typeface="Arial" pitchFamily="34" charset="-122"/>
                          <a:cs typeface="Arial" pitchFamily="34" charset="-120"/>
                        </a:rPr>
                        <a:t>Critère</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b="1" dirty="0">
                          <a:solidFill>
                            <a:srgbClr val="0EA5E9"/>
                          </a:solidFill>
                          <a:latin typeface="Arial" pitchFamily="34" charset="0"/>
                          <a:ea typeface="Arial" pitchFamily="34" charset="-122"/>
                          <a:cs typeface="Arial" pitchFamily="34" charset="-120"/>
                        </a:rPr>
                        <a:t>Whisper</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b="1" dirty="0">
                          <a:solidFill>
                            <a:srgbClr val="10B981"/>
                          </a:solidFill>
                          <a:latin typeface="Arial" pitchFamily="34" charset="0"/>
                          <a:ea typeface="Arial" pitchFamily="34" charset="-122"/>
                          <a:cs typeface="Arial" pitchFamily="34" charset="-120"/>
                        </a:rPr>
                        <a:t>CC YouTube</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b="1" dirty="0">
                          <a:solidFill>
                            <a:srgbClr val="1A202C"/>
                          </a:solidFill>
                          <a:latin typeface="Arial" pitchFamily="34" charset="0"/>
                          <a:ea typeface="Arial" pitchFamily="34" charset="-122"/>
                          <a:cs typeface="Arial" pitchFamily="34" charset="-120"/>
                        </a:rPr>
                        <a:t>Meilleur</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r>
              <a:tr h="694944">
                <a:tc>
                  <a:txBody>
                    <a:bodyPr/>
                    <a:lstStyle/>
                    <a:p>
                      <a:pPr algn="ctr" indent="0" marL="0">
                        <a:buNone/>
                      </a:pPr>
                      <a:r>
                        <a:rPr lang="en-US" sz="1000" dirty="0">
                          <a:solidFill>
                            <a:srgbClr val="1A202C"/>
                          </a:solidFill>
                          <a:latin typeface="Arial" pitchFamily="34" charset="0"/>
                          <a:ea typeface="Arial" pitchFamily="34" charset="-122"/>
                          <a:cs typeface="Arial" pitchFamily="34" charset="-120"/>
                        </a:rPr>
                        <a:t>WER global</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F97316"/>
                          </a:solidFill>
                          <a:latin typeface="Arial" pitchFamily="34" charset="0"/>
                          <a:ea typeface="Arial" pitchFamily="34" charset="-122"/>
                          <a:cs typeface="Arial" pitchFamily="34" charset="-120"/>
                        </a:rPr>
                        <a:t>22.8%</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10B981"/>
                          </a:solidFill>
                          <a:latin typeface="Arial" pitchFamily="34" charset="0"/>
                          <a:ea typeface="Arial" pitchFamily="34" charset="-122"/>
                          <a:cs typeface="Arial" pitchFamily="34" charset="-120"/>
                        </a:rPr>
                        <a:t>7.2%</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10B981"/>
                          </a:solidFill>
                          <a:latin typeface="Arial" pitchFamily="34" charset="0"/>
                          <a:ea typeface="Arial" pitchFamily="34" charset="-122"/>
                          <a:cs typeface="Arial" pitchFamily="34" charset="-120"/>
                        </a:rPr>
                        <a:t>CC YouTube ✓</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r>
              <a:tr h="694944">
                <a:tc>
                  <a:txBody>
                    <a:bodyPr/>
                    <a:lstStyle/>
                    <a:p>
                      <a:pPr algn="ctr" indent="0" marL="0">
                        <a:buNone/>
                      </a:pPr>
                      <a:r>
                        <a:rPr lang="en-US" sz="1000" dirty="0">
                          <a:solidFill>
                            <a:srgbClr val="1A202C"/>
                          </a:solidFill>
                          <a:latin typeface="Arial" pitchFamily="34" charset="0"/>
                          <a:ea typeface="Arial" pitchFamily="34" charset="-122"/>
                          <a:cs typeface="Arial" pitchFamily="34" charset="-120"/>
                        </a:rPr>
                        <a:t>Granularité</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1A202C"/>
                          </a:solidFill>
                          <a:latin typeface="Arial" pitchFamily="34" charset="0"/>
                          <a:ea typeface="Arial" pitchFamily="34" charset="-122"/>
                          <a:cs typeface="Arial" pitchFamily="34" charset="-120"/>
                        </a:rPr>
                        <a:t>Par segment</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1A202C"/>
                          </a:solidFill>
                          <a:latin typeface="Arial" pitchFamily="34" charset="0"/>
                          <a:ea typeface="Arial" pitchFamily="34" charset="-122"/>
                          <a:cs typeface="Arial" pitchFamily="34" charset="-120"/>
                        </a:rPr>
                        <a:t>Texte global</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0EA5E9"/>
                          </a:solidFill>
                          <a:latin typeface="Arial" pitchFamily="34" charset="0"/>
                          <a:ea typeface="Arial" pitchFamily="34" charset="-122"/>
                          <a:cs typeface="Arial" pitchFamily="34" charset="-120"/>
                        </a:rPr>
                        <a:t>Whisper ✓</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r>
              <a:tr h="694944">
                <a:tc>
                  <a:txBody>
                    <a:bodyPr/>
                    <a:lstStyle/>
                    <a:p>
                      <a:pPr algn="ctr" indent="0" marL="0">
                        <a:buNone/>
                      </a:pPr>
                      <a:r>
                        <a:rPr lang="en-US" sz="1000" dirty="0">
                          <a:solidFill>
                            <a:srgbClr val="1A202C"/>
                          </a:solidFill>
                          <a:latin typeface="Arial" pitchFamily="34" charset="0"/>
                          <a:ea typeface="Arial" pitchFamily="34" charset="-122"/>
                          <a:cs typeface="Arial" pitchFamily="34" charset="-120"/>
                        </a:rPr>
                        <a:t>Wildmoka JSON</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1A202C"/>
                          </a:solidFill>
                          <a:latin typeface="Arial" pitchFamily="34" charset="0"/>
                          <a:ea typeface="Arial" pitchFamily="34" charset="-122"/>
                          <a:cs typeface="Arial" pitchFamily="34" charset="-120"/>
                        </a:rPr>
                        <a:t>Oui ✓</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1A202C"/>
                          </a:solidFill>
                          <a:latin typeface="Arial" pitchFamily="34" charset="0"/>
                          <a:ea typeface="Arial" pitchFamily="34" charset="-122"/>
                          <a:cs typeface="Arial" pitchFamily="34" charset="-120"/>
                        </a:rPr>
                        <a:t>Non</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0EA5E9"/>
                          </a:solidFill>
                          <a:latin typeface="Arial" pitchFamily="34" charset="0"/>
                          <a:ea typeface="Arial" pitchFamily="34" charset="-122"/>
                          <a:cs typeface="Arial" pitchFamily="34" charset="-120"/>
                        </a:rPr>
                        <a:t>Whisper ✓</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r>
              <a:tr h="694944">
                <a:tc>
                  <a:txBody>
                    <a:bodyPr/>
                    <a:lstStyle/>
                    <a:p>
                      <a:pPr algn="ctr" indent="0" marL="0">
                        <a:buNone/>
                      </a:pPr>
                      <a:r>
                        <a:rPr lang="en-US" sz="1000" dirty="0">
                          <a:solidFill>
                            <a:srgbClr val="1A202C"/>
                          </a:solidFill>
                          <a:latin typeface="Arial" pitchFamily="34" charset="0"/>
                          <a:ea typeface="Arial" pitchFamily="34" charset="-122"/>
                          <a:cs typeface="Arial" pitchFamily="34" charset="-120"/>
                        </a:rPr>
                        <a:t>Amélioration</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1A202C"/>
                          </a:solidFill>
                          <a:latin typeface="Arial" pitchFamily="34" charset="0"/>
                          <a:ea typeface="Arial" pitchFamily="34" charset="-122"/>
                          <a:cs typeface="Arial" pitchFamily="34" charset="-120"/>
                        </a:rPr>
                        <a:t>large-v3 → 14%</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1A202C"/>
                          </a:solidFill>
                          <a:latin typeface="Arial" pitchFamily="34" charset="0"/>
                          <a:ea typeface="Arial" pitchFamily="34" charset="-122"/>
                          <a:cs typeface="Arial" pitchFamily="34" charset="-120"/>
                        </a:rPr>
                        <a:t>Non</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c>
                  <a:txBody>
                    <a:bodyPr/>
                    <a:lstStyle/>
                    <a:p>
                      <a:pPr algn="ctr" indent="0" marL="0">
                        <a:buNone/>
                      </a:pPr>
                      <a:r>
                        <a:rPr lang="en-US" sz="1000" dirty="0">
                          <a:solidFill>
                            <a:srgbClr val="0EA5E9"/>
                          </a:solidFill>
                          <a:latin typeface="Arial" pitchFamily="34" charset="0"/>
                          <a:ea typeface="Arial" pitchFamily="34" charset="-122"/>
                          <a:cs typeface="Arial" pitchFamily="34" charset="-120"/>
                        </a:rPr>
                        <a:t>Whisper ✓</a:t>
                      </a:r>
                      <a:endParaRPr lang="en-US" sz="1000" dirty="0">
                        <a:latin typeface="Arial" charset="0"/>
                        <a:ea typeface="Arial" charset="0"/>
                        <a:cs typeface="Arial"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6F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Intégration Wildmoka</a:t>
            </a:r>
            <a:endParaRPr lang="en-US" sz="2600" dirty="0"/>
          </a:p>
        </p:txBody>
      </p:sp>
      <p:sp>
        <p:nvSpPr>
          <p:cNvPr id="4" name="Shape 2"/>
          <p:cNvSpPr/>
          <p:nvPr/>
        </p:nvSpPr>
        <p:spPr>
          <a:xfrm>
            <a:off x="365760" y="960120"/>
            <a:ext cx="8412480" cy="914400"/>
          </a:xfrm>
          <a:prstGeom prst="rect">
            <a:avLst/>
          </a:prstGeom>
          <a:solidFill>
            <a:srgbClr val="EFF6FF"/>
          </a:solidFill>
          <a:ln w="12700">
            <a:solidFill>
              <a:srgbClr val="0EA5E9"/>
            </a:solidFill>
            <a:prstDash val="solid"/>
          </a:ln>
        </p:spPr>
      </p:sp>
      <p:sp>
        <p:nvSpPr>
          <p:cNvPr id="5" name="Text 3"/>
          <p:cNvSpPr/>
          <p:nvPr/>
        </p:nvSpPr>
        <p:spPr>
          <a:xfrm>
            <a:off x="502920" y="987552"/>
            <a:ext cx="8229600" cy="841248"/>
          </a:xfrm>
          <a:prstGeom prst="rect">
            <a:avLst/>
          </a:prstGeom>
          <a:noFill/>
          <a:ln/>
        </p:spPr>
        <p:txBody>
          <a:bodyPr wrap="square" rtlCol="0" anchor="ctr"/>
          <a:lstStyle/>
          <a:p>
            <a:pPr indent="0" marL="0">
              <a:buNone/>
            </a:pPr>
            <a:r>
              <a:rPr lang="en-US" sz="1100" dirty="0">
                <a:solidFill>
                  <a:srgbClr val="1A202C"/>
                </a:solidFill>
                <a:latin typeface="Arial" pitchFamily="34" charset="0"/>
                <a:ea typeface="Arial" pitchFamily="34" charset="-122"/>
                <a:cs typeface="Arial" pitchFamily="34" charset="-120"/>
              </a:rPr>
              <a:t>Wildmoka est une plateforme utilisée par France 24, Arte, BFM TV pour découper des extraits vidéo (clips) et les diffuser sur YouTube, Instagram, TV. SubQuality génère automatiquement les timestamps des segments problématiques au format JSON Wildmoka.</a:t>
            </a:r>
            <a:endParaRPr lang="en-US" sz="1100" dirty="0"/>
          </a:p>
        </p:txBody>
      </p:sp>
      <p:sp>
        <p:nvSpPr>
          <p:cNvPr id="6" name="Shape 4"/>
          <p:cNvSpPr/>
          <p:nvPr/>
        </p:nvSpPr>
        <p:spPr>
          <a:xfrm>
            <a:off x="274320" y="2011680"/>
            <a:ext cx="1298448" cy="804672"/>
          </a:xfrm>
          <a:prstGeom prst="rect">
            <a:avLst/>
          </a:prstGeom>
          <a:solidFill>
            <a:srgbClr val="F4F6FA"/>
          </a:solidFill>
          <a:ln w="12700">
            <a:solidFill>
              <a:srgbClr val="64748B"/>
            </a:solidFill>
            <a:prstDash val="solid"/>
          </a:ln>
        </p:spPr>
      </p:sp>
      <p:sp>
        <p:nvSpPr>
          <p:cNvPr id="7" name="Text 5"/>
          <p:cNvSpPr/>
          <p:nvPr/>
        </p:nvSpPr>
        <p:spPr>
          <a:xfrm>
            <a:off x="274320" y="2011680"/>
            <a:ext cx="1298448" cy="804672"/>
          </a:xfrm>
          <a:prstGeom prst="rect">
            <a:avLst/>
          </a:prstGeom>
          <a:noFill/>
          <a:ln/>
        </p:spPr>
        <p:txBody>
          <a:bodyPr wrap="square" rtlCol="0" anchor="ctr"/>
          <a:lstStyle/>
          <a:p>
            <a:pPr algn="ctr" indent="0" marL="0">
              <a:buNone/>
            </a:pPr>
            <a:r>
              <a:rPr lang="en-US" sz="950" b="1" dirty="0">
                <a:solidFill>
                  <a:srgbClr val="64748B"/>
                </a:solidFill>
                <a:latin typeface="Arial" pitchFamily="34" charset="0"/>
                <a:ea typeface="Arial" pitchFamily="34" charset="-122"/>
                <a:cs typeface="Arial" pitchFamily="34" charset="-120"/>
              </a:rPr>
              <a:t>Vidéo</a:t>
            </a:r>
            <a:endParaRPr lang="en-US" sz="950" dirty="0"/>
          </a:p>
          <a:p>
            <a:pPr algn="ctr" indent="0" marL="0">
              <a:buNone/>
            </a:pPr>
            <a:r>
              <a:rPr lang="en-US" sz="950" b="1" dirty="0">
                <a:solidFill>
                  <a:srgbClr val="64748B"/>
                </a:solidFill>
                <a:latin typeface="Arial" pitchFamily="34" charset="0"/>
                <a:ea typeface="Arial" pitchFamily="34" charset="-122"/>
                <a:cs typeface="Arial" pitchFamily="34" charset="-120"/>
              </a:rPr>
              <a:t>France 24</a:t>
            </a:r>
            <a:endParaRPr lang="en-US" sz="950" dirty="0"/>
          </a:p>
        </p:txBody>
      </p:sp>
      <p:sp>
        <p:nvSpPr>
          <p:cNvPr id="8" name="Shape 6"/>
          <p:cNvSpPr/>
          <p:nvPr/>
        </p:nvSpPr>
        <p:spPr>
          <a:xfrm>
            <a:off x="1591056" y="2286000"/>
            <a:ext cx="146304" cy="274320"/>
          </a:xfrm>
          <a:prstGeom prst="rightArrow">
            <a:avLst/>
          </a:prstGeom>
          <a:solidFill>
            <a:srgbClr val="64748B"/>
          </a:solidFill>
          <a:ln w="12700">
            <a:solidFill>
              <a:srgbClr val="64748B"/>
            </a:solidFill>
            <a:prstDash val="solid"/>
          </a:ln>
        </p:spPr>
      </p:sp>
      <p:sp>
        <p:nvSpPr>
          <p:cNvPr id="9" name="Shape 7"/>
          <p:cNvSpPr/>
          <p:nvPr/>
        </p:nvSpPr>
        <p:spPr>
          <a:xfrm>
            <a:off x="1737360" y="2011680"/>
            <a:ext cx="1298448" cy="804672"/>
          </a:xfrm>
          <a:prstGeom prst="rect">
            <a:avLst/>
          </a:prstGeom>
          <a:solidFill>
            <a:srgbClr val="F4F6FA"/>
          </a:solidFill>
          <a:ln w="12700">
            <a:solidFill>
              <a:srgbClr val="0EA5E9"/>
            </a:solidFill>
            <a:prstDash val="solid"/>
          </a:ln>
        </p:spPr>
      </p:sp>
      <p:sp>
        <p:nvSpPr>
          <p:cNvPr id="10" name="Text 8"/>
          <p:cNvSpPr/>
          <p:nvPr/>
        </p:nvSpPr>
        <p:spPr>
          <a:xfrm>
            <a:off x="1737360" y="2011680"/>
            <a:ext cx="1298448" cy="804672"/>
          </a:xfrm>
          <a:prstGeom prst="rect">
            <a:avLst/>
          </a:prstGeom>
          <a:noFill/>
          <a:ln/>
        </p:spPr>
        <p:txBody>
          <a:bodyPr wrap="square" rtlCol="0" anchor="ctr"/>
          <a:lstStyle/>
          <a:p>
            <a:pPr algn="ctr" indent="0" marL="0">
              <a:buNone/>
            </a:pPr>
            <a:r>
              <a:rPr lang="en-US" sz="950" b="1" dirty="0">
                <a:solidFill>
                  <a:srgbClr val="0EA5E9"/>
                </a:solidFill>
                <a:latin typeface="Arial" pitchFamily="34" charset="0"/>
                <a:ea typeface="Arial" pitchFamily="34" charset="-122"/>
                <a:cs typeface="Arial" pitchFamily="34" charset="-120"/>
              </a:rPr>
              <a:t>Whisper</a:t>
            </a:r>
            <a:endParaRPr lang="en-US" sz="950" dirty="0"/>
          </a:p>
          <a:p>
            <a:pPr algn="ctr" indent="0" marL="0">
              <a:buNone/>
            </a:pPr>
            <a:r>
              <a:rPr lang="en-US" sz="950" b="1" dirty="0">
                <a:solidFill>
                  <a:srgbClr val="0EA5E9"/>
                </a:solidFill>
                <a:latin typeface="Arial" pitchFamily="34" charset="0"/>
                <a:ea typeface="Arial" pitchFamily="34" charset="-122"/>
                <a:cs typeface="Arial" pitchFamily="34" charset="-120"/>
              </a:rPr>
              <a:t>STT</a:t>
            </a:r>
            <a:endParaRPr lang="en-US" sz="950" dirty="0"/>
          </a:p>
        </p:txBody>
      </p:sp>
      <p:sp>
        <p:nvSpPr>
          <p:cNvPr id="11" name="Shape 9"/>
          <p:cNvSpPr/>
          <p:nvPr/>
        </p:nvSpPr>
        <p:spPr>
          <a:xfrm>
            <a:off x="3054096" y="2286000"/>
            <a:ext cx="146304" cy="274320"/>
          </a:xfrm>
          <a:prstGeom prst="rightArrow">
            <a:avLst/>
          </a:prstGeom>
          <a:solidFill>
            <a:srgbClr val="64748B"/>
          </a:solidFill>
          <a:ln w="12700">
            <a:solidFill>
              <a:srgbClr val="64748B"/>
            </a:solidFill>
            <a:prstDash val="solid"/>
          </a:ln>
        </p:spPr>
      </p:sp>
      <p:sp>
        <p:nvSpPr>
          <p:cNvPr id="12" name="Shape 10"/>
          <p:cNvSpPr/>
          <p:nvPr/>
        </p:nvSpPr>
        <p:spPr>
          <a:xfrm>
            <a:off x="3200400" y="2011680"/>
            <a:ext cx="1298448" cy="804672"/>
          </a:xfrm>
          <a:prstGeom prst="rect">
            <a:avLst/>
          </a:prstGeom>
          <a:solidFill>
            <a:srgbClr val="F4F6FA"/>
          </a:solidFill>
          <a:ln w="12700">
            <a:solidFill>
              <a:srgbClr val="F59E0B"/>
            </a:solidFill>
            <a:prstDash val="solid"/>
          </a:ln>
        </p:spPr>
      </p:sp>
      <p:sp>
        <p:nvSpPr>
          <p:cNvPr id="13" name="Text 11"/>
          <p:cNvSpPr/>
          <p:nvPr/>
        </p:nvSpPr>
        <p:spPr>
          <a:xfrm>
            <a:off x="3200400" y="2011680"/>
            <a:ext cx="1298448" cy="804672"/>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WER ≥ 25%</a:t>
            </a:r>
            <a:endParaRPr lang="en-US" sz="950" dirty="0"/>
          </a:p>
          <a:p>
            <a:pPr algn="ctr" indent="0" marL="0">
              <a:buNone/>
            </a:pPr>
            <a:r>
              <a:rPr lang="en-US" sz="950" b="1" dirty="0">
                <a:solidFill>
                  <a:srgbClr val="F59E0B"/>
                </a:solidFill>
                <a:latin typeface="Arial" pitchFamily="34" charset="0"/>
                <a:ea typeface="Arial" pitchFamily="34" charset="-122"/>
                <a:cs typeface="Arial" pitchFamily="34" charset="-120"/>
              </a:rPr>
              <a:t>→ alerte</a:t>
            </a:r>
            <a:endParaRPr lang="en-US" sz="950" dirty="0"/>
          </a:p>
        </p:txBody>
      </p:sp>
      <p:sp>
        <p:nvSpPr>
          <p:cNvPr id="14" name="Shape 12"/>
          <p:cNvSpPr/>
          <p:nvPr/>
        </p:nvSpPr>
        <p:spPr>
          <a:xfrm>
            <a:off x="4517136" y="2286000"/>
            <a:ext cx="146304" cy="274320"/>
          </a:xfrm>
          <a:prstGeom prst="rightArrow">
            <a:avLst/>
          </a:prstGeom>
          <a:solidFill>
            <a:srgbClr val="64748B"/>
          </a:solidFill>
          <a:ln w="12700">
            <a:solidFill>
              <a:srgbClr val="64748B"/>
            </a:solidFill>
            <a:prstDash val="solid"/>
          </a:ln>
        </p:spPr>
      </p:sp>
      <p:sp>
        <p:nvSpPr>
          <p:cNvPr id="15" name="Shape 13"/>
          <p:cNvSpPr/>
          <p:nvPr/>
        </p:nvSpPr>
        <p:spPr>
          <a:xfrm>
            <a:off x="4663440" y="2011680"/>
            <a:ext cx="1298448" cy="804672"/>
          </a:xfrm>
          <a:prstGeom prst="rect">
            <a:avLst/>
          </a:prstGeom>
          <a:solidFill>
            <a:srgbClr val="F4F6FA"/>
          </a:solidFill>
          <a:ln w="12700">
            <a:solidFill>
              <a:srgbClr val="F97316"/>
            </a:solidFill>
            <a:prstDash val="solid"/>
          </a:ln>
        </p:spPr>
      </p:sp>
      <p:sp>
        <p:nvSpPr>
          <p:cNvPr id="16" name="Text 14"/>
          <p:cNvSpPr/>
          <p:nvPr/>
        </p:nvSpPr>
        <p:spPr>
          <a:xfrm>
            <a:off x="4663440" y="2011680"/>
            <a:ext cx="1298448" cy="804672"/>
          </a:xfrm>
          <a:prstGeom prst="rect">
            <a:avLst/>
          </a:prstGeom>
          <a:noFill/>
          <a:ln/>
        </p:spPr>
        <p:txBody>
          <a:bodyPr wrap="square" rtlCol="0" anchor="ctr"/>
          <a:lstStyle/>
          <a:p>
            <a:pPr algn="ctr" indent="0" marL="0">
              <a:buNone/>
            </a:pPr>
            <a:r>
              <a:rPr lang="en-US" sz="950" b="1" dirty="0">
                <a:solidFill>
                  <a:srgbClr val="F97316"/>
                </a:solidFill>
                <a:latin typeface="Arial" pitchFamily="34" charset="0"/>
                <a:ea typeface="Arial" pitchFamily="34" charset="-122"/>
                <a:cs typeface="Arial" pitchFamily="34" charset="-120"/>
              </a:rPr>
              <a:t>JSON</a:t>
            </a:r>
            <a:endParaRPr lang="en-US" sz="950" dirty="0"/>
          </a:p>
          <a:p>
            <a:pPr algn="ctr" indent="0" marL="0">
              <a:buNone/>
            </a:pPr>
            <a:r>
              <a:rPr lang="en-US" sz="950" b="1" dirty="0">
                <a:solidFill>
                  <a:srgbClr val="F97316"/>
                </a:solidFill>
                <a:latin typeface="Arial" pitchFamily="34" charset="0"/>
                <a:ea typeface="Arial" pitchFamily="34" charset="-122"/>
                <a:cs typeface="Arial" pitchFamily="34" charset="-120"/>
              </a:rPr>
              <a:t>Wildmoka</a:t>
            </a:r>
            <a:endParaRPr lang="en-US" sz="950" dirty="0"/>
          </a:p>
        </p:txBody>
      </p:sp>
      <p:sp>
        <p:nvSpPr>
          <p:cNvPr id="17" name="Shape 15"/>
          <p:cNvSpPr/>
          <p:nvPr/>
        </p:nvSpPr>
        <p:spPr>
          <a:xfrm>
            <a:off x="5980176" y="2286000"/>
            <a:ext cx="146304" cy="274320"/>
          </a:xfrm>
          <a:prstGeom prst="rightArrow">
            <a:avLst/>
          </a:prstGeom>
          <a:solidFill>
            <a:srgbClr val="64748B"/>
          </a:solidFill>
          <a:ln w="12700">
            <a:solidFill>
              <a:srgbClr val="64748B"/>
            </a:solidFill>
            <a:prstDash val="solid"/>
          </a:ln>
        </p:spPr>
      </p:sp>
      <p:sp>
        <p:nvSpPr>
          <p:cNvPr id="18" name="Shape 16"/>
          <p:cNvSpPr/>
          <p:nvPr/>
        </p:nvSpPr>
        <p:spPr>
          <a:xfrm>
            <a:off x="6126480" y="2011680"/>
            <a:ext cx="1298448" cy="804672"/>
          </a:xfrm>
          <a:prstGeom prst="rect">
            <a:avLst/>
          </a:prstGeom>
          <a:solidFill>
            <a:srgbClr val="F4F6FA"/>
          </a:solidFill>
          <a:ln w="12700">
            <a:solidFill>
              <a:srgbClr val="EF4444"/>
            </a:solidFill>
            <a:prstDash val="solid"/>
          </a:ln>
        </p:spPr>
      </p:sp>
      <p:sp>
        <p:nvSpPr>
          <p:cNvPr id="19" name="Text 17"/>
          <p:cNvSpPr/>
          <p:nvPr/>
        </p:nvSpPr>
        <p:spPr>
          <a:xfrm>
            <a:off x="6126480" y="2011680"/>
            <a:ext cx="1298448" cy="804672"/>
          </a:xfrm>
          <a:prstGeom prst="rect">
            <a:avLst/>
          </a:prstGeom>
          <a:noFill/>
          <a:ln/>
        </p:spPr>
        <p:txBody>
          <a:bodyPr wrap="square" rtlCol="0" anchor="ctr"/>
          <a:lstStyle/>
          <a:p>
            <a:pPr algn="ctr" indent="0" marL="0">
              <a:buNone/>
            </a:pPr>
            <a:r>
              <a:rPr lang="en-US" sz="950" b="1" dirty="0">
                <a:solidFill>
                  <a:srgbClr val="EF4444"/>
                </a:solidFill>
                <a:latin typeface="Arial" pitchFamily="34" charset="0"/>
                <a:ea typeface="Arial" pitchFamily="34" charset="-122"/>
                <a:cs typeface="Arial" pitchFamily="34" charset="-120"/>
              </a:rPr>
              <a:t>Éditeur</a:t>
            </a:r>
            <a:endParaRPr lang="en-US" sz="950" dirty="0"/>
          </a:p>
          <a:p>
            <a:pPr algn="ctr" indent="0" marL="0">
              <a:buNone/>
            </a:pPr>
            <a:r>
              <a:rPr lang="en-US" sz="950" b="1" dirty="0">
                <a:solidFill>
                  <a:srgbClr val="EF4444"/>
                </a:solidFill>
                <a:latin typeface="Arial" pitchFamily="34" charset="0"/>
                <a:ea typeface="Arial" pitchFamily="34" charset="-122"/>
                <a:cs typeface="Arial" pitchFamily="34" charset="-120"/>
              </a:rPr>
              <a:t>corrige</a:t>
            </a:r>
            <a:endParaRPr lang="en-US" sz="950" dirty="0"/>
          </a:p>
        </p:txBody>
      </p:sp>
      <p:sp>
        <p:nvSpPr>
          <p:cNvPr id="20" name="Shape 18"/>
          <p:cNvSpPr/>
          <p:nvPr/>
        </p:nvSpPr>
        <p:spPr>
          <a:xfrm>
            <a:off x="7443216" y="2286000"/>
            <a:ext cx="146304" cy="274320"/>
          </a:xfrm>
          <a:prstGeom prst="rightArrow">
            <a:avLst/>
          </a:prstGeom>
          <a:solidFill>
            <a:srgbClr val="64748B"/>
          </a:solidFill>
          <a:ln w="12700">
            <a:solidFill>
              <a:srgbClr val="64748B"/>
            </a:solidFill>
            <a:prstDash val="solid"/>
          </a:ln>
        </p:spPr>
      </p:sp>
      <p:sp>
        <p:nvSpPr>
          <p:cNvPr id="21" name="Shape 19"/>
          <p:cNvSpPr/>
          <p:nvPr/>
        </p:nvSpPr>
        <p:spPr>
          <a:xfrm>
            <a:off x="7589520" y="2011680"/>
            <a:ext cx="1298448" cy="804672"/>
          </a:xfrm>
          <a:prstGeom prst="rect">
            <a:avLst/>
          </a:prstGeom>
          <a:solidFill>
            <a:srgbClr val="F4F6FA"/>
          </a:solidFill>
          <a:ln w="12700">
            <a:solidFill>
              <a:srgbClr val="10B981"/>
            </a:solidFill>
            <a:prstDash val="solid"/>
          </a:ln>
        </p:spPr>
      </p:sp>
      <p:sp>
        <p:nvSpPr>
          <p:cNvPr id="22" name="Text 20"/>
          <p:cNvSpPr/>
          <p:nvPr/>
        </p:nvSpPr>
        <p:spPr>
          <a:xfrm>
            <a:off x="7589520" y="2011680"/>
            <a:ext cx="1298448" cy="804672"/>
          </a:xfrm>
          <a:prstGeom prst="rect">
            <a:avLst/>
          </a:prstGeom>
          <a:noFill/>
          <a:ln/>
        </p:spPr>
        <p:txBody>
          <a:bodyPr wrap="square" rtlCol="0" anchor="ctr"/>
          <a:lstStyle/>
          <a:p>
            <a:pPr algn="ctr" indent="0" marL="0">
              <a:buNone/>
            </a:pPr>
            <a:r>
              <a:rPr lang="en-US" sz="950" b="1" dirty="0">
                <a:solidFill>
                  <a:srgbClr val="10B981"/>
                </a:solidFill>
                <a:latin typeface="Arial" pitchFamily="34" charset="0"/>
                <a:ea typeface="Arial" pitchFamily="34" charset="-122"/>
                <a:cs typeface="Arial" pitchFamily="34" charset="-120"/>
              </a:rPr>
              <a:t>Diffusion</a:t>
            </a:r>
            <a:endParaRPr lang="en-US" sz="950" dirty="0"/>
          </a:p>
          <a:p>
            <a:pPr algn="ctr" indent="0" marL="0">
              <a:buNone/>
            </a:pPr>
            <a:r>
              <a:rPr lang="en-US" sz="950" b="1" dirty="0">
                <a:solidFill>
                  <a:srgbClr val="10B981"/>
                </a:solidFill>
                <a:latin typeface="Arial" pitchFamily="34" charset="0"/>
                <a:ea typeface="Arial" pitchFamily="34" charset="-122"/>
                <a:cs typeface="Arial" pitchFamily="34" charset="-120"/>
              </a:rPr>
              <a:t>validée</a:t>
            </a:r>
            <a:endParaRPr lang="en-US" sz="950" dirty="0"/>
          </a:p>
        </p:txBody>
      </p:sp>
      <p:sp>
        <p:nvSpPr>
          <p:cNvPr id="23" name="Text 21"/>
          <p:cNvSpPr/>
          <p:nvPr/>
        </p:nvSpPr>
        <p:spPr>
          <a:xfrm>
            <a:off x="365760" y="2971800"/>
            <a:ext cx="8412480" cy="347472"/>
          </a:xfrm>
          <a:prstGeom prst="rect">
            <a:avLst/>
          </a:prstGeom>
          <a:noFill/>
          <a:ln/>
        </p:spPr>
        <p:txBody>
          <a:bodyPr wrap="square" rtlCol="0" anchor="ctr"/>
          <a:lstStyle/>
          <a:p>
            <a:pPr indent="0" marL="0">
              <a:buNone/>
            </a:pPr>
            <a:r>
              <a:rPr lang="en-US" sz="1200" b="1" dirty="0">
                <a:solidFill>
                  <a:srgbClr val="1E3A5F"/>
                </a:solidFill>
                <a:latin typeface="Arial" pitchFamily="34" charset="0"/>
                <a:ea typeface="Arial" pitchFamily="34" charset="-122"/>
                <a:cs typeface="Arial" pitchFamily="34" charset="-120"/>
              </a:rPr>
              <a:t>Exemples de clips exportés (WER ≥ 25%)</a:t>
            </a:r>
            <a:endParaRPr lang="en-US" sz="1200" dirty="0"/>
          </a:p>
        </p:txBody>
      </p:sp>
      <p:sp>
        <p:nvSpPr>
          <p:cNvPr id="24" name="Shape 22"/>
          <p:cNvSpPr/>
          <p:nvPr/>
        </p:nvSpPr>
        <p:spPr>
          <a:xfrm>
            <a:off x="274320" y="3383280"/>
            <a:ext cx="4160520" cy="685800"/>
          </a:xfrm>
          <a:prstGeom prst="rect">
            <a:avLst/>
          </a:prstGeom>
          <a:solidFill>
            <a:srgbClr val="F4F6FA"/>
          </a:solidFill>
          <a:ln w="12700">
            <a:solidFill>
              <a:srgbClr val="F97316"/>
            </a:solidFill>
            <a:prstDash val="solid"/>
          </a:ln>
        </p:spPr>
      </p:sp>
      <p:sp>
        <p:nvSpPr>
          <p:cNvPr id="25" name="Text 23"/>
          <p:cNvSpPr/>
          <p:nvPr/>
        </p:nvSpPr>
        <p:spPr>
          <a:xfrm>
            <a:off x="365760" y="3419856"/>
            <a:ext cx="3931920" cy="274320"/>
          </a:xfrm>
          <a:prstGeom prst="rect">
            <a:avLst/>
          </a:prstGeom>
          <a:noFill/>
          <a:ln/>
        </p:spPr>
        <p:txBody>
          <a:bodyPr wrap="square" rtlCol="0" anchor="ctr"/>
          <a:lstStyle/>
          <a:p>
            <a:pPr indent="0" marL="0">
              <a:buNone/>
            </a:pPr>
            <a:r>
              <a:rPr lang="en-US" sz="950" b="1" dirty="0">
                <a:solidFill>
                  <a:srgbClr val="F97316"/>
                </a:solidFill>
                <a:latin typeface="Arial" pitchFamily="34" charset="0"/>
                <a:ea typeface="Arial" pitchFamily="34" charset="-122"/>
                <a:cs typeface="Arial" pitchFamily="34" charset="-120"/>
              </a:rPr>
              <a:t>F24_SEG_03 · 00:08→00:10 · WER 25%</a:t>
            </a:r>
            <a:endParaRPr lang="en-US" sz="950" dirty="0"/>
          </a:p>
        </p:txBody>
      </p:sp>
      <p:sp>
        <p:nvSpPr>
          <p:cNvPr id="26" name="Text 24"/>
          <p:cNvSpPr/>
          <p:nvPr/>
        </p:nvSpPr>
        <p:spPr>
          <a:xfrm>
            <a:off x="365760" y="3730752"/>
            <a:ext cx="3931920" cy="256032"/>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Plusieurs mots mal reconnus</a:t>
            </a:r>
            <a:endParaRPr lang="en-US" sz="850" dirty="0"/>
          </a:p>
        </p:txBody>
      </p:sp>
      <p:sp>
        <p:nvSpPr>
          <p:cNvPr id="27" name="Shape 25"/>
          <p:cNvSpPr/>
          <p:nvPr/>
        </p:nvSpPr>
        <p:spPr>
          <a:xfrm>
            <a:off x="4709160" y="3383280"/>
            <a:ext cx="4160520" cy="685800"/>
          </a:xfrm>
          <a:prstGeom prst="rect">
            <a:avLst/>
          </a:prstGeom>
          <a:solidFill>
            <a:srgbClr val="F4F6FA"/>
          </a:solidFill>
          <a:ln w="12700">
            <a:solidFill>
              <a:srgbClr val="F97316"/>
            </a:solidFill>
            <a:prstDash val="solid"/>
          </a:ln>
        </p:spPr>
      </p:sp>
      <p:sp>
        <p:nvSpPr>
          <p:cNvPr id="28" name="Text 26"/>
          <p:cNvSpPr/>
          <p:nvPr/>
        </p:nvSpPr>
        <p:spPr>
          <a:xfrm>
            <a:off x="4800600" y="3419856"/>
            <a:ext cx="3931920" cy="274320"/>
          </a:xfrm>
          <a:prstGeom prst="rect">
            <a:avLst/>
          </a:prstGeom>
          <a:noFill/>
          <a:ln/>
        </p:spPr>
        <p:txBody>
          <a:bodyPr wrap="square" rtlCol="0" anchor="ctr"/>
          <a:lstStyle/>
          <a:p>
            <a:pPr indent="0" marL="0">
              <a:buNone/>
            </a:pPr>
            <a:r>
              <a:rPr lang="en-US" sz="950" b="1" dirty="0">
                <a:solidFill>
                  <a:srgbClr val="F97316"/>
                </a:solidFill>
                <a:latin typeface="Arial" pitchFamily="34" charset="0"/>
                <a:ea typeface="Arial" pitchFamily="34" charset="-122"/>
                <a:cs typeface="Arial" pitchFamily="34" charset="-120"/>
              </a:rPr>
              <a:t>F24_SEG_04 · 00:10→00:12 · WER 33.3%</a:t>
            </a:r>
            <a:endParaRPr lang="en-US" sz="950" dirty="0"/>
          </a:p>
        </p:txBody>
      </p:sp>
      <p:sp>
        <p:nvSpPr>
          <p:cNvPr id="29" name="Text 27"/>
          <p:cNvSpPr/>
          <p:nvPr/>
        </p:nvSpPr>
        <p:spPr>
          <a:xfrm>
            <a:off x="4800600" y="3730752"/>
            <a:ext cx="3931920" cy="256032"/>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Plusieurs mots mal reconnus</a:t>
            </a:r>
            <a:endParaRPr lang="en-US" sz="850" dirty="0"/>
          </a:p>
        </p:txBody>
      </p:sp>
      <p:sp>
        <p:nvSpPr>
          <p:cNvPr id="30" name="Shape 28"/>
          <p:cNvSpPr/>
          <p:nvPr/>
        </p:nvSpPr>
        <p:spPr>
          <a:xfrm>
            <a:off x="274320" y="4160520"/>
            <a:ext cx="4160520" cy="685800"/>
          </a:xfrm>
          <a:prstGeom prst="rect">
            <a:avLst/>
          </a:prstGeom>
          <a:solidFill>
            <a:srgbClr val="F4F6FA"/>
          </a:solidFill>
          <a:ln w="12700">
            <a:solidFill>
              <a:srgbClr val="EF4444"/>
            </a:solidFill>
            <a:prstDash val="solid"/>
          </a:ln>
        </p:spPr>
      </p:sp>
      <p:sp>
        <p:nvSpPr>
          <p:cNvPr id="31" name="Text 29"/>
          <p:cNvSpPr/>
          <p:nvPr/>
        </p:nvSpPr>
        <p:spPr>
          <a:xfrm>
            <a:off x="365760" y="4197096"/>
            <a:ext cx="3931920" cy="274320"/>
          </a:xfrm>
          <a:prstGeom prst="rect">
            <a:avLst/>
          </a:prstGeom>
          <a:noFill/>
          <a:ln/>
        </p:spPr>
        <p:txBody>
          <a:bodyPr wrap="square" rtlCol="0" anchor="ctr"/>
          <a:lstStyle/>
          <a:p>
            <a:pPr indent="0" marL="0">
              <a:buNone/>
            </a:pPr>
            <a:r>
              <a:rPr lang="en-US" sz="950" b="1" dirty="0">
                <a:solidFill>
                  <a:srgbClr val="EF4444"/>
                </a:solidFill>
                <a:latin typeface="Arial" pitchFamily="34" charset="0"/>
                <a:ea typeface="Arial" pitchFamily="34" charset="-122"/>
                <a:cs typeface="Arial" pitchFamily="34" charset="-120"/>
              </a:rPr>
              <a:t>F24_SEG_05 · 00:12→00:16 · WER 58.3%</a:t>
            </a:r>
            <a:endParaRPr lang="en-US" sz="950" dirty="0"/>
          </a:p>
        </p:txBody>
      </p:sp>
      <p:sp>
        <p:nvSpPr>
          <p:cNvPr id="32" name="Text 30"/>
          <p:cNvSpPr/>
          <p:nvPr/>
        </p:nvSpPr>
        <p:spPr>
          <a:xfrm>
            <a:off x="365760" y="4507992"/>
            <a:ext cx="3931920" cy="256032"/>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Erreurs multiples — phrase fortement altérée</a:t>
            </a:r>
            <a:endParaRPr lang="en-US" sz="850" dirty="0"/>
          </a:p>
        </p:txBody>
      </p:sp>
      <p:sp>
        <p:nvSpPr>
          <p:cNvPr id="33" name="Shape 31"/>
          <p:cNvSpPr/>
          <p:nvPr/>
        </p:nvSpPr>
        <p:spPr>
          <a:xfrm>
            <a:off x="4709160" y="4160520"/>
            <a:ext cx="4160520" cy="685800"/>
          </a:xfrm>
          <a:prstGeom prst="rect">
            <a:avLst/>
          </a:prstGeom>
          <a:solidFill>
            <a:srgbClr val="F4F6FA"/>
          </a:solidFill>
          <a:ln w="12700">
            <a:solidFill>
              <a:srgbClr val="F97316"/>
            </a:solidFill>
            <a:prstDash val="solid"/>
          </a:ln>
        </p:spPr>
      </p:sp>
      <p:sp>
        <p:nvSpPr>
          <p:cNvPr id="34" name="Text 32"/>
          <p:cNvSpPr/>
          <p:nvPr/>
        </p:nvSpPr>
        <p:spPr>
          <a:xfrm>
            <a:off x="4800600" y="4197096"/>
            <a:ext cx="3931920" cy="274320"/>
          </a:xfrm>
          <a:prstGeom prst="rect">
            <a:avLst/>
          </a:prstGeom>
          <a:noFill/>
          <a:ln/>
        </p:spPr>
        <p:txBody>
          <a:bodyPr wrap="square" rtlCol="0" anchor="ctr"/>
          <a:lstStyle/>
          <a:p>
            <a:pPr indent="0" marL="0">
              <a:buNone/>
            </a:pPr>
            <a:r>
              <a:rPr lang="en-US" sz="950" b="1" dirty="0">
                <a:solidFill>
                  <a:srgbClr val="F97316"/>
                </a:solidFill>
                <a:latin typeface="Arial" pitchFamily="34" charset="0"/>
                <a:ea typeface="Arial" pitchFamily="34" charset="-122"/>
                <a:cs typeface="Arial" pitchFamily="34" charset="-120"/>
              </a:rPr>
              <a:t>F24_SEG_08 · 00:23→00:29 · WER 35%</a:t>
            </a:r>
            <a:endParaRPr lang="en-US" sz="950" dirty="0"/>
          </a:p>
        </p:txBody>
      </p:sp>
      <p:sp>
        <p:nvSpPr>
          <p:cNvPr id="35" name="Text 33"/>
          <p:cNvSpPr/>
          <p:nvPr/>
        </p:nvSpPr>
        <p:spPr>
          <a:xfrm>
            <a:off x="4800600" y="4507992"/>
            <a:ext cx="3931920" cy="256032"/>
          </a:xfrm>
          <a:prstGeom prst="rect">
            <a:avLst/>
          </a:prstGeom>
          <a:noFill/>
          <a:ln/>
        </p:spPr>
        <p:txBody>
          <a:bodyPr wrap="square" rtlCol="0" anchor="ctr"/>
          <a:lstStyle/>
          <a:p>
            <a:pPr indent="0" marL="0">
              <a:buNone/>
            </a:pPr>
            <a:r>
              <a:rPr lang="en-US" sz="850" i="1" dirty="0">
                <a:solidFill>
                  <a:srgbClr val="64748B"/>
                </a:solidFill>
                <a:latin typeface="Arial" pitchFamily="34" charset="0"/>
                <a:ea typeface="Arial" pitchFamily="34" charset="-122"/>
                <a:cs typeface="Arial" pitchFamily="34" charset="-120"/>
              </a:rPr>
              <a:t>Plusieurs mots mal reconnus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Erreurs STT — Analyse détaillée</a:t>
            </a:r>
            <a:endParaRPr lang="en-US" sz="2600" dirty="0"/>
          </a:p>
        </p:txBody>
      </p:sp>
      <p:sp>
        <p:nvSpPr>
          <p:cNvPr id="4" name="Shape 2"/>
          <p:cNvSpPr/>
          <p:nvPr/>
        </p:nvSpPr>
        <p:spPr>
          <a:xfrm>
            <a:off x="365760" y="960120"/>
            <a:ext cx="8412480" cy="914400"/>
          </a:xfrm>
          <a:prstGeom prst="rect">
            <a:avLst/>
          </a:prstGeom>
          <a:solidFill>
            <a:srgbClr val="F4F6FA"/>
          </a:solidFill>
          <a:ln w="12700">
            <a:solidFill>
              <a:srgbClr val="F97316"/>
            </a:solidFill>
            <a:prstDash val="solid"/>
          </a:ln>
        </p:spPr>
      </p:sp>
      <p:sp>
        <p:nvSpPr>
          <p:cNvPr id="5" name="Shape 3"/>
          <p:cNvSpPr/>
          <p:nvPr/>
        </p:nvSpPr>
        <p:spPr>
          <a:xfrm>
            <a:off x="365760" y="960120"/>
            <a:ext cx="91440" cy="914400"/>
          </a:xfrm>
          <a:prstGeom prst="rect">
            <a:avLst/>
          </a:prstGeom>
          <a:solidFill>
            <a:srgbClr val="F97316"/>
          </a:solidFill>
          <a:ln/>
        </p:spPr>
      </p:sp>
      <p:sp>
        <p:nvSpPr>
          <p:cNvPr id="6" name="Text 4"/>
          <p:cNvSpPr/>
          <p:nvPr/>
        </p:nvSpPr>
        <p:spPr>
          <a:xfrm>
            <a:off x="548640" y="1014984"/>
            <a:ext cx="3657600" cy="256032"/>
          </a:xfrm>
          <a:prstGeom prst="rect">
            <a:avLst/>
          </a:prstGeom>
          <a:noFill/>
          <a:ln/>
        </p:spPr>
        <p:txBody>
          <a:bodyPr wrap="square" rtlCol="0" anchor="ctr"/>
          <a:lstStyle/>
          <a:p>
            <a:pPr indent="0" marL="0">
              <a:buNone/>
            </a:pPr>
            <a:r>
              <a:rPr lang="en-US" sz="1000" b="1" dirty="0">
                <a:solidFill>
                  <a:srgbClr val="F97316"/>
                </a:solidFill>
                <a:latin typeface="Arial" pitchFamily="34" charset="0"/>
                <a:ea typeface="Arial" pitchFamily="34" charset="-122"/>
                <a:cs typeface="Arial" pitchFamily="34" charset="-120"/>
              </a:rPr>
              <a:t>Seg.03 · 00:08→00:10 · WER 25%</a:t>
            </a:r>
            <a:endParaRPr lang="en-US" sz="1000" dirty="0"/>
          </a:p>
        </p:txBody>
      </p:sp>
      <p:sp>
        <p:nvSpPr>
          <p:cNvPr id="7" name="Text 5"/>
          <p:cNvSpPr/>
          <p:nvPr/>
        </p:nvSpPr>
        <p:spPr>
          <a:xfrm>
            <a:off x="548640" y="1289304"/>
            <a:ext cx="8046720" cy="228600"/>
          </a:xfrm>
          <a:prstGeom prst="rect">
            <a:avLst/>
          </a:prstGeom>
          <a:noFill/>
          <a:ln/>
        </p:spPr>
        <p:txBody>
          <a:bodyPr wrap="square" rtlCol="0" anchor="ctr"/>
          <a:lstStyle/>
          <a:p>
            <a:pPr indent="0" marL="0">
              <a:buNone/>
            </a:pPr>
            <a:r>
              <a:rPr lang="en-US" sz="950" i="1" dirty="0">
                <a:solidFill>
                  <a:srgbClr val="10B981"/>
                </a:solidFill>
                <a:latin typeface="Arial" pitchFamily="34" charset="0"/>
                <a:ea typeface="Arial" pitchFamily="34" charset="-122"/>
                <a:cs typeface="Arial" pitchFamily="34" charset="-120"/>
              </a:rPr>
              <a:t>REF : a reconnu le ministre des transports Philippe Tabarot.</a:t>
            </a:r>
            <a:endParaRPr lang="en-US" sz="950" dirty="0"/>
          </a:p>
        </p:txBody>
      </p:sp>
      <p:sp>
        <p:nvSpPr>
          <p:cNvPr id="8" name="Text 6"/>
          <p:cNvSpPr/>
          <p:nvPr/>
        </p:nvSpPr>
        <p:spPr>
          <a:xfrm>
            <a:off x="548640" y="1527048"/>
            <a:ext cx="8046720" cy="228600"/>
          </a:xfrm>
          <a:prstGeom prst="rect">
            <a:avLst/>
          </a:prstGeom>
          <a:noFill/>
          <a:ln/>
        </p:spPr>
        <p:txBody>
          <a:bodyPr wrap="square" rtlCol="0" anchor="ctr"/>
          <a:lstStyle/>
          <a:p>
            <a:pPr indent="0" marL="0">
              <a:buNone/>
            </a:pPr>
            <a:r>
              <a:rPr lang="en-US" sz="950" i="1" dirty="0">
                <a:solidFill>
                  <a:srgbClr val="EF4444"/>
                </a:solidFill>
                <a:latin typeface="Arial" pitchFamily="34" charset="0"/>
                <a:ea typeface="Arial" pitchFamily="34" charset="-122"/>
                <a:cs typeface="Arial" pitchFamily="34" charset="-120"/>
              </a:rPr>
              <a:t>STT : et a reconnu le ministre des transports Philippe Tabaro.</a:t>
            </a:r>
            <a:endParaRPr lang="en-US" sz="950" dirty="0"/>
          </a:p>
        </p:txBody>
      </p:sp>
      <p:sp>
        <p:nvSpPr>
          <p:cNvPr id="9" name="Shape 7"/>
          <p:cNvSpPr/>
          <p:nvPr/>
        </p:nvSpPr>
        <p:spPr>
          <a:xfrm>
            <a:off x="365760" y="1984248"/>
            <a:ext cx="8412480" cy="914400"/>
          </a:xfrm>
          <a:prstGeom prst="rect">
            <a:avLst/>
          </a:prstGeom>
          <a:solidFill>
            <a:srgbClr val="F4F6FA"/>
          </a:solidFill>
          <a:ln w="12700">
            <a:solidFill>
              <a:srgbClr val="F97316"/>
            </a:solidFill>
            <a:prstDash val="solid"/>
          </a:ln>
        </p:spPr>
      </p:sp>
      <p:sp>
        <p:nvSpPr>
          <p:cNvPr id="10" name="Shape 8"/>
          <p:cNvSpPr/>
          <p:nvPr/>
        </p:nvSpPr>
        <p:spPr>
          <a:xfrm>
            <a:off x="365760" y="1984248"/>
            <a:ext cx="91440" cy="914400"/>
          </a:xfrm>
          <a:prstGeom prst="rect">
            <a:avLst/>
          </a:prstGeom>
          <a:solidFill>
            <a:srgbClr val="F97316"/>
          </a:solidFill>
          <a:ln/>
        </p:spPr>
      </p:sp>
      <p:sp>
        <p:nvSpPr>
          <p:cNvPr id="11" name="Text 9"/>
          <p:cNvSpPr/>
          <p:nvPr/>
        </p:nvSpPr>
        <p:spPr>
          <a:xfrm>
            <a:off x="548640" y="2039112"/>
            <a:ext cx="3657600" cy="256032"/>
          </a:xfrm>
          <a:prstGeom prst="rect">
            <a:avLst/>
          </a:prstGeom>
          <a:noFill/>
          <a:ln/>
        </p:spPr>
        <p:txBody>
          <a:bodyPr wrap="square" rtlCol="0" anchor="ctr"/>
          <a:lstStyle/>
          <a:p>
            <a:pPr indent="0" marL="0">
              <a:buNone/>
            </a:pPr>
            <a:r>
              <a:rPr lang="en-US" sz="1000" b="1" dirty="0">
                <a:solidFill>
                  <a:srgbClr val="F97316"/>
                </a:solidFill>
                <a:latin typeface="Arial" pitchFamily="34" charset="0"/>
                <a:ea typeface="Arial" pitchFamily="34" charset="-122"/>
                <a:cs typeface="Arial" pitchFamily="34" charset="-120"/>
              </a:rPr>
              <a:t>Seg.04 · 00:10→00:12 · WER 33.3%</a:t>
            </a:r>
            <a:endParaRPr lang="en-US" sz="1000" dirty="0"/>
          </a:p>
        </p:txBody>
      </p:sp>
      <p:sp>
        <p:nvSpPr>
          <p:cNvPr id="12" name="Text 10"/>
          <p:cNvSpPr/>
          <p:nvPr/>
        </p:nvSpPr>
        <p:spPr>
          <a:xfrm>
            <a:off x="548640" y="2313432"/>
            <a:ext cx="8046720" cy="228600"/>
          </a:xfrm>
          <a:prstGeom prst="rect">
            <a:avLst/>
          </a:prstGeom>
          <a:noFill/>
          <a:ln/>
        </p:spPr>
        <p:txBody>
          <a:bodyPr wrap="square" rtlCol="0" anchor="ctr"/>
          <a:lstStyle/>
          <a:p>
            <a:pPr indent="0" marL="0">
              <a:buNone/>
            </a:pPr>
            <a:r>
              <a:rPr lang="en-US" sz="950" i="1" dirty="0">
                <a:solidFill>
                  <a:srgbClr val="10B981"/>
                </a:solidFill>
                <a:latin typeface="Arial" pitchFamily="34" charset="0"/>
                <a:ea typeface="Arial" pitchFamily="34" charset="-122"/>
                <a:cs typeface="Arial" pitchFamily="34" charset="-120"/>
              </a:rPr>
              <a:t>REF : Il a provoqué plusieurs drames dont deux en Île-de-France.</a:t>
            </a:r>
            <a:endParaRPr lang="en-US" sz="950" dirty="0"/>
          </a:p>
        </p:txBody>
      </p:sp>
      <p:sp>
        <p:nvSpPr>
          <p:cNvPr id="13" name="Text 11"/>
          <p:cNvSpPr/>
          <p:nvPr/>
        </p:nvSpPr>
        <p:spPr>
          <a:xfrm>
            <a:off x="548640" y="2551176"/>
            <a:ext cx="8046720" cy="228600"/>
          </a:xfrm>
          <a:prstGeom prst="rect">
            <a:avLst/>
          </a:prstGeom>
          <a:noFill/>
          <a:ln/>
        </p:spPr>
        <p:txBody>
          <a:bodyPr wrap="square" rtlCol="0" anchor="ctr"/>
          <a:lstStyle/>
          <a:p>
            <a:pPr indent="0" marL="0">
              <a:buNone/>
            </a:pPr>
            <a:r>
              <a:rPr lang="en-US" sz="950" i="1" dirty="0">
                <a:solidFill>
                  <a:srgbClr val="EF4444"/>
                </a:solidFill>
                <a:latin typeface="Arial" pitchFamily="34" charset="0"/>
                <a:ea typeface="Arial" pitchFamily="34" charset="-122"/>
                <a:cs typeface="Arial" pitchFamily="34" charset="-120"/>
              </a:rPr>
              <a:t>STT : Il a provoqué plusieurs drames dont deux en île de France.</a:t>
            </a:r>
            <a:endParaRPr lang="en-US" sz="950" dirty="0"/>
          </a:p>
        </p:txBody>
      </p:sp>
      <p:sp>
        <p:nvSpPr>
          <p:cNvPr id="14" name="Shape 12"/>
          <p:cNvSpPr/>
          <p:nvPr/>
        </p:nvSpPr>
        <p:spPr>
          <a:xfrm>
            <a:off x="365760" y="3008376"/>
            <a:ext cx="8412480" cy="914400"/>
          </a:xfrm>
          <a:prstGeom prst="rect">
            <a:avLst/>
          </a:prstGeom>
          <a:solidFill>
            <a:srgbClr val="F4F6FA"/>
          </a:solidFill>
          <a:ln w="12700">
            <a:solidFill>
              <a:srgbClr val="EF4444"/>
            </a:solidFill>
            <a:prstDash val="solid"/>
          </a:ln>
        </p:spPr>
      </p:sp>
      <p:sp>
        <p:nvSpPr>
          <p:cNvPr id="15" name="Shape 13"/>
          <p:cNvSpPr/>
          <p:nvPr/>
        </p:nvSpPr>
        <p:spPr>
          <a:xfrm>
            <a:off x="365760" y="3008376"/>
            <a:ext cx="91440" cy="914400"/>
          </a:xfrm>
          <a:prstGeom prst="rect">
            <a:avLst/>
          </a:prstGeom>
          <a:solidFill>
            <a:srgbClr val="EF4444"/>
          </a:solidFill>
          <a:ln/>
        </p:spPr>
      </p:sp>
      <p:sp>
        <p:nvSpPr>
          <p:cNvPr id="16" name="Text 14"/>
          <p:cNvSpPr/>
          <p:nvPr/>
        </p:nvSpPr>
        <p:spPr>
          <a:xfrm>
            <a:off x="548640" y="3063240"/>
            <a:ext cx="3657600" cy="256032"/>
          </a:xfrm>
          <a:prstGeom prst="rect">
            <a:avLst/>
          </a:prstGeom>
          <a:noFill/>
          <a:ln/>
        </p:spPr>
        <p:txBody>
          <a:bodyPr wrap="square" rtlCol="0" anchor="ctr"/>
          <a:lstStyle/>
          <a:p>
            <a:pPr indent="0" marL="0">
              <a:buNone/>
            </a:pPr>
            <a:r>
              <a:rPr lang="en-US" sz="1000" b="1" dirty="0">
                <a:solidFill>
                  <a:srgbClr val="EF4444"/>
                </a:solidFill>
                <a:latin typeface="Arial" pitchFamily="34" charset="0"/>
                <a:ea typeface="Arial" pitchFamily="34" charset="-122"/>
                <a:cs typeface="Arial" pitchFamily="34" charset="-120"/>
              </a:rPr>
              <a:t>Seg.05 · 00:12→00:16 · WER 58.3%</a:t>
            </a:r>
            <a:endParaRPr lang="en-US" sz="1000" dirty="0"/>
          </a:p>
        </p:txBody>
      </p:sp>
      <p:sp>
        <p:nvSpPr>
          <p:cNvPr id="17" name="Text 15"/>
          <p:cNvSpPr/>
          <p:nvPr/>
        </p:nvSpPr>
        <p:spPr>
          <a:xfrm>
            <a:off x="548640" y="3337560"/>
            <a:ext cx="8046720" cy="228600"/>
          </a:xfrm>
          <a:prstGeom prst="rect">
            <a:avLst/>
          </a:prstGeom>
          <a:noFill/>
          <a:ln/>
        </p:spPr>
        <p:txBody>
          <a:bodyPr wrap="square" rtlCol="0" anchor="ctr"/>
          <a:lstStyle/>
          <a:p>
            <a:pPr indent="0" marL="0">
              <a:buNone/>
            </a:pPr>
            <a:r>
              <a:rPr lang="en-US" sz="950" i="1" dirty="0">
                <a:solidFill>
                  <a:srgbClr val="10B981"/>
                </a:solidFill>
                <a:latin typeface="Arial" pitchFamily="34" charset="0"/>
                <a:ea typeface="Arial" pitchFamily="34" charset="-122"/>
                <a:cs typeface="Arial" pitchFamily="34" charset="-120"/>
              </a:rPr>
              <a:t>REF : Le premier s'est déroulé ce lundi vers 18h après l'Ambri en Seine-et-Marne.</a:t>
            </a:r>
            <a:endParaRPr lang="en-US" sz="950" dirty="0"/>
          </a:p>
        </p:txBody>
      </p:sp>
      <p:sp>
        <p:nvSpPr>
          <p:cNvPr id="18" name="Text 16"/>
          <p:cNvSpPr/>
          <p:nvPr/>
        </p:nvSpPr>
        <p:spPr>
          <a:xfrm>
            <a:off x="548640" y="3575304"/>
            <a:ext cx="8046720" cy="228600"/>
          </a:xfrm>
          <a:prstGeom prst="rect">
            <a:avLst/>
          </a:prstGeom>
          <a:noFill/>
          <a:ln/>
        </p:spPr>
        <p:txBody>
          <a:bodyPr wrap="square" rtlCol="0" anchor="ctr"/>
          <a:lstStyle/>
          <a:p>
            <a:pPr indent="0" marL="0">
              <a:buNone/>
            </a:pPr>
            <a:r>
              <a:rPr lang="en-US" sz="950" i="1" dirty="0">
                <a:solidFill>
                  <a:srgbClr val="EF4444"/>
                </a:solidFill>
                <a:latin typeface="Arial" pitchFamily="34" charset="0"/>
                <a:ea typeface="Arial" pitchFamily="34" charset="-122"/>
                <a:cs typeface="Arial" pitchFamily="34" charset="-120"/>
              </a:rPr>
              <a:t>STT : Le premier cédéroulé se lundi vers 18 heures après l'embry en Sade-Marne.</a:t>
            </a:r>
            <a:endParaRPr lang="en-US" sz="950" dirty="0"/>
          </a:p>
        </p:txBody>
      </p:sp>
      <p:sp>
        <p:nvSpPr>
          <p:cNvPr id="19" name="Shape 17"/>
          <p:cNvSpPr/>
          <p:nvPr/>
        </p:nvSpPr>
        <p:spPr>
          <a:xfrm>
            <a:off x="365760" y="4032504"/>
            <a:ext cx="8412480" cy="914400"/>
          </a:xfrm>
          <a:prstGeom prst="rect">
            <a:avLst/>
          </a:prstGeom>
          <a:solidFill>
            <a:srgbClr val="F4F6FA"/>
          </a:solidFill>
          <a:ln w="12700">
            <a:solidFill>
              <a:srgbClr val="F97316"/>
            </a:solidFill>
            <a:prstDash val="solid"/>
          </a:ln>
        </p:spPr>
      </p:sp>
      <p:sp>
        <p:nvSpPr>
          <p:cNvPr id="20" name="Shape 18"/>
          <p:cNvSpPr/>
          <p:nvPr/>
        </p:nvSpPr>
        <p:spPr>
          <a:xfrm>
            <a:off x="365760" y="4032504"/>
            <a:ext cx="91440" cy="914400"/>
          </a:xfrm>
          <a:prstGeom prst="rect">
            <a:avLst/>
          </a:prstGeom>
          <a:solidFill>
            <a:srgbClr val="F97316"/>
          </a:solidFill>
          <a:ln/>
        </p:spPr>
      </p:sp>
      <p:sp>
        <p:nvSpPr>
          <p:cNvPr id="21" name="Text 19"/>
          <p:cNvSpPr/>
          <p:nvPr/>
        </p:nvSpPr>
        <p:spPr>
          <a:xfrm>
            <a:off x="548640" y="4087368"/>
            <a:ext cx="3657600" cy="256032"/>
          </a:xfrm>
          <a:prstGeom prst="rect">
            <a:avLst/>
          </a:prstGeom>
          <a:noFill/>
          <a:ln/>
        </p:spPr>
        <p:txBody>
          <a:bodyPr wrap="square" rtlCol="0" anchor="ctr"/>
          <a:lstStyle/>
          <a:p>
            <a:pPr indent="0" marL="0">
              <a:buNone/>
            </a:pPr>
            <a:r>
              <a:rPr lang="en-US" sz="1000" b="1" dirty="0">
                <a:solidFill>
                  <a:srgbClr val="F97316"/>
                </a:solidFill>
                <a:latin typeface="Arial" pitchFamily="34" charset="0"/>
                <a:ea typeface="Arial" pitchFamily="34" charset="-122"/>
                <a:cs typeface="Arial" pitchFamily="34" charset="-120"/>
              </a:rPr>
              <a:t>Seg.08 · 00:23→00:29 · WER 35%</a:t>
            </a:r>
            <a:endParaRPr lang="en-US" sz="1000" dirty="0"/>
          </a:p>
        </p:txBody>
      </p:sp>
      <p:sp>
        <p:nvSpPr>
          <p:cNvPr id="22" name="Text 20"/>
          <p:cNvSpPr/>
          <p:nvPr/>
        </p:nvSpPr>
        <p:spPr>
          <a:xfrm>
            <a:off x="548640" y="4361688"/>
            <a:ext cx="8046720" cy="228600"/>
          </a:xfrm>
          <a:prstGeom prst="rect">
            <a:avLst/>
          </a:prstGeom>
          <a:noFill/>
          <a:ln/>
        </p:spPr>
        <p:txBody>
          <a:bodyPr wrap="square" rtlCol="0" anchor="ctr"/>
          <a:lstStyle/>
          <a:p>
            <a:pPr indent="0" marL="0">
              <a:buNone/>
            </a:pPr>
            <a:r>
              <a:rPr lang="en-US" sz="950" i="1" dirty="0">
                <a:solidFill>
                  <a:srgbClr val="10B981"/>
                </a:solidFill>
                <a:latin typeface="Arial" pitchFamily="34" charset="0"/>
                <a:ea typeface="Arial" pitchFamily="34" charset="-122"/>
                <a:cs typeface="Arial" pitchFamily="34" charset="-120"/>
              </a:rPr>
              <a:t>REF : Un deuxième accident mortel francilien s'est déroulé vers 23h30 sur un quai de la Marne à Ormesson-sur-Marne dans le 94.</a:t>
            </a:r>
            <a:endParaRPr lang="en-US" sz="950" dirty="0"/>
          </a:p>
        </p:txBody>
      </p:sp>
      <p:sp>
        <p:nvSpPr>
          <p:cNvPr id="23" name="Text 21"/>
          <p:cNvSpPr/>
          <p:nvPr/>
        </p:nvSpPr>
        <p:spPr>
          <a:xfrm>
            <a:off x="548640" y="4599432"/>
            <a:ext cx="8046720" cy="228600"/>
          </a:xfrm>
          <a:prstGeom prst="rect">
            <a:avLst/>
          </a:prstGeom>
          <a:noFill/>
          <a:ln/>
        </p:spPr>
        <p:txBody>
          <a:bodyPr wrap="square" rtlCol="0" anchor="ctr"/>
          <a:lstStyle/>
          <a:p>
            <a:pPr indent="0" marL="0">
              <a:buNone/>
            </a:pPr>
            <a:r>
              <a:rPr lang="en-US" sz="950" i="1" dirty="0">
                <a:solidFill>
                  <a:srgbClr val="EF4444"/>
                </a:solidFill>
                <a:latin typeface="Arial" pitchFamily="34" charset="0"/>
                <a:ea typeface="Arial" pitchFamily="34" charset="-122"/>
                <a:cs typeface="Arial" pitchFamily="34" charset="-120"/>
              </a:rPr>
              <a:t>STT : Un deuxième accident mortel, France s'est déroulé vers 23h30 sur un cas de la Marne au Pére sur Marne dans le 94.</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Dimension audiovisuelle — Frames vidéo réelles</a:t>
            </a:r>
            <a:endParaRPr lang="en-US" sz="2600" dirty="0"/>
          </a:p>
        </p:txBody>
      </p:sp>
      <p:sp>
        <p:nvSpPr>
          <p:cNvPr id="4" name="Text 2"/>
          <p:cNvSpPr/>
          <p:nvPr/>
        </p:nvSpPr>
        <p:spPr>
          <a:xfrm>
            <a:off x="365760" y="1097280"/>
            <a:ext cx="8412480" cy="1097280"/>
          </a:xfrm>
          <a:prstGeom prst="rect">
            <a:avLst/>
          </a:prstGeom>
          <a:noFill/>
          <a:ln/>
        </p:spPr>
        <p:txBody>
          <a:bodyPr wrap="square" rtlCol="0" anchor="ctr"/>
          <a:lstStyle/>
          <a:p>
            <a:pPr indent="0" marL="0">
              <a:buNone/>
            </a:pPr>
            <a:r>
              <a:rPr lang="en-US" sz="1300" dirty="0">
                <a:solidFill>
                  <a:srgbClr val="1A202C"/>
                </a:solidFill>
                <a:latin typeface="Arial" pitchFamily="34" charset="0"/>
                <a:ea typeface="Arial" pitchFamily="34" charset="-122"/>
                <a:cs typeface="Arial" pitchFamily="34" charset="-120"/>
              </a:rPr>
              <a:t>Les frames sont extraites avec OpenCV aux timestamps des segments à corriger.</a:t>
            </a:r>
            <a:endParaRPr lang="en-US" sz="1300" dirty="0"/>
          </a:p>
          <a:p>
            <a:pPr indent="0" marL="0">
              <a:buNone/>
            </a:pPr>
            <a:r>
              <a:rPr lang="en-US" sz="1300" dirty="0">
                <a:solidFill>
                  <a:srgbClr val="1A202C"/>
                </a:solidFill>
                <a:latin typeface="Arial" pitchFamily="34" charset="0"/>
                <a:ea typeface="Arial" pitchFamily="34" charset="-122"/>
                <a:cs typeface="Arial" pitchFamily="34" charset="-120"/>
              </a:rPr>
              <a:t>Chaque image est annotée avec : la frame vidéo réelle + le texte STT (rouge) vs la référence (vert) + le score WER.</a:t>
            </a:r>
            <a:endParaRPr lang="en-US" sz="1300" dirty="0"/>
          </a:p>
        </p:txBody>
      </p:sp>
      <p:sp>
        <p:nvSpPr>
          <p:cNvPr id="5" name="Shape 3"/>
          <p:cNvSpPr/>
          <p:nvPr/>
        </p:nvSpPr>
        <p:spPr>
          <a:xfrm>
            <a:off x="365760" y="2377440"/>
            <a:ext cx="4023360" cy="2377440"/>
          </a:xfrm>
          <a:prstGeom prst="rect">
            <a:avLst/>
          </a:prstGeom>
          <a:solidFill>
            <a:srgbClr val="F4F6FA"/>
          </a:solidFill>
          <a:ln w="12700">
            <a:solidFill>
              <a:srgbClr val="F97316"/>
            </a:solidFill>
            <a:prstDash val="solid"/>
          </a:ln>
        </p:spPr>
      </p:sp>
      <p:sp>
        <p:nvSpPr>
          <p:cNvPr id="6" name="Text 4"/>
          <p:cNvSpPr/>
          <p:nvPr/>
        </p:nvSpPr>
        <p:spPr>
          <a:xfrm>
            <a:off x="457200" y="2468880"/>
            <a:ext cx="3840480" cy="2194560"/>
          </a:xfrm>
          <a:prstGeom prst="rect">
            <a:avLst/>
          </a:prstGeom>
          <a:noFill/>
          <a:ln/>
        </p:spPr>
        <p:txBody>
          <a:bodyPr wrap="square" rtlCol="0" anchor="ctr"/>
          <a:lstStyle/>
          <a:p>
            <a:pPr indent="0" marL="0">
              <a:buNone/>
            </a:pPr>
            <a:r>
              <a:rPr lang="en-US" sz="1000" dirty="0">
                <a:solidFill>
                  <a:srgbClr val="1A202C"/>
                </a:solidFill>
                <a:latin typeface="Arial" pitchFamily="34" charset="0"/>
                <a:ea typeface="Arial" pitchFamily="34" charset="-122"/>
                <a:cs typeface="Arial" pitchFamily="34" charset="-120"/>
              </a:rPr>
              <a:t>Frame Seg.05 · 00:12→00:16</a:t>
            </a:r>
            <a:endParaRPr lang="en-US" sz="1000" dirty="0"/>
          </a:p>
          <a:p>
            <a:pPr indent="0" marL="0">
              <a:buNone/>
            </a:pPr>
            <a:r>
              <a:rPr lang="en-US" sz="1000" dirty="0">
                <a:solidFill>
                  <a:srgbClr val="1A202C"/>
                </a:solidFill>
                <a:latin typeface="Arial" pitchFamily="34" charset="0"/>
                <a:ea typeface="Arial" pitchFamily="34" charset="-122"/>
                <a:cs typeface="Arial" pitchFamily="34" charset="-120"/>
              </a:rPr>
              <a:t>WER 58%</a:t>
            </a:r>
            <a:endParaRPr lang="en-US" sz="1000" dirty="0"/>
          </a:p>
          <a:p>
            <a:pPr indent="0" marL="0">
              <a:buNone/>
            </a:pPr>
            <a:endParaRPr lang="en-US" sz="1000" dirty="0"/>
          </a:p>
          <a:p>
            <a:pPr indent="0" marL="0">
              <a:buNone/>
            </a:pPr>
            <a:r>
              <a:rPr lang="en-US" sz="1000" dirty="0">
                <a:solidFill>
                  <a:srgbClr val="1A202C"/>
                </a:solidFill>
                <a:latin typeface="Arial" pitchFamily="34" charset="0"/>
                <a:ea typeface="Arial" pitchFamily="34" charset="-122"/>
                <a:cs typeface="Arial" pitchFamily="34" charset="-120"/>
              </a:rPr>
              <a:t>REF : Le premier s'est déroulé...</a:t>
            </a:r>
            <a:endParaRPr lang="en-US" sz="1000" dirty="0"/>
          </a:p>
          <a:p>
            <a:pPr indent="0" marL="0">
              <a:buNone/>
            </a:pPr>
            <a:r>
              <a:rPr lang="en-US" sz="1000" dirty="0">
                <a:solidFill>
                  <a:srgbClr val="1A202C"/>
                </a:solidFill>
                <a:latin typeface="Arial" pitchFamily="34" charset="0"/>
                <a:ea typeface="Arial" pitchFamily="34" charset="-122"/>
                <a:cs typeface="Arial" pitchFamily="34" charset="-120"/>
              </a:rPr>
              <a:t>STT : Le premier cédéroulé se lundi...</a:t>
            </a:r>
            <a:endParaRPr lang="en-US" sz="1000" dirty="0"/>
          </a:p>
        </p:txBody>
      </p:sp>
      <p:sp>
        <p:nvSpPr>
          <p:cNvPr id="7" name="Shape 5"/>
          <p:cNvSpPr/>
          <p:nvPr/>
        </p:nvSpPr>
        <p:spPr>
          <a:xfrm>
            <a:off x="4754880" y="2377440"/>
            <a:ext cx="4023360" cy="2377440"/>
          </a:xfrm>
          <a:prstGeom prst="rect">
            <a:avLst/>
          </a:prstGeom>
          <a:solidFill>
            <a:srgbClr val="F4F6FA"/>
          </a:solidFill>
          <a:ln w="12700">
            <a:solidFill>
              <a:srgbClr val="EF4444"/>
            </a:solidFill>
            <a:prstDash val="solid"/>
          </a:ln>
        </p:spPr>
      </p:sp>
      <p:sp>
        <p:nvSpPr>
          <p:cNvPr id="8" name="Text 6"/>
          <p:cNvSpPr/>
          <p:nvPr/>
        </p:nvSpPr>
        <p:spPr>
          <a:xfrm>
            <a:off x="4846320" y="2468880"/>
            <a:ext cx="3840480" cy="2194560"/>
          </a:xfrm>
          <a:prstGeom prst="rect">
            <a:avLst/>
          </a:prstGeom>
          <a:noFill/>
          <a:ln/>
        </p:spPr>
        <p:txBody>
          <a:bodyPr wrap="square" rtlCol="0" anchor="ctr"/>
          <a:lstStyle/>
          <a:p>
            <a:pPr indent="0" marL="0">
              <a:buNone/>
            </a:pPr>
            <a:r>
              <a:rPr lang="en-US" sz="1000" dirty="0">
                <a:solidFill>
                  <a:srgbClr val="1A202C"/>
                </a:solidFill>
                <a:latin typeface="Arial" pitchFamily="34" charset="0"/>
                <a:ea typeface="Arial" pitchFamily="34" charset="-122"/>
                <a:cs typeface="Arial" pitchFamily="34" charset="-120"/>
              </a:rPr>
              <a:t>Frame Seg.13 · 00:49→00:55</a:t>
            </a:r>
            <a:endParaRPr lang="en-US" sz="1000" dirty="0"/>
          </a:p>
          <a:p>
            <a:pPr indent="0" marL="0">
              <a:buNone/>
            </a:pPr>
            <a:r>
              <a:rPr lang="en-US" sz="1000" dirty="0">
                <a:solidFill>
                  <a:srgbClr val="1A202C"/>
                </a:solidFill>
                <a:latin typeface="Arial" pitchFamily="34" charset="0"/>
                <a:ea typeface="Arial" pitchFamily="34" charset="-122"/>
                <a:cs typeface="Arial" pitchFamily="34" charset="-120"/>
              </a:rPr>
              <a:t>WER 47%</a:t>
            </a:r>
            <a:endParaRPr lang="en-US" sz="1000" dirty="0"/>
          </a:p>
          <a:p>
            <a:pPr indent="0" marL="0">
              <a:buNone/>
            </a:pPr>
            <a:endParaRPr lang="en-US" sz="1000" dirty="0"/>
          </a:p>
          <a:p>
            <a:pPr indent="0" marL="0">
              <a:buNone/>
            </a:pPr>
            <a:r>
              <a:rPr lang="en-US" sz="1000" dirty="0">
                <a:solidFill>
                  <a:srgbClr val="1A202C"/>
                </a:solidFill>
                <a:latin typeface="Arial" pitchFamily="34" charset="0"/>
                <a:ea typeface="Arial" pitchFamily="34" charset="-122"/>
                <a:cs typeface="Arial" pitchFamily="34" charset="-120"/>
              </a:rPr>
              <a:t>REF : ...autocars Flixbus vers 7h10...</a:t>
            </a:r>
            <a:endParaRPr lang="en-US" sz="1000" dirty="0"/>
          </a:p>
          <a:p>
            <a:pPr indent="0" marL="0">
              <a:buNone/>
            </a:pPr>
            <a:r>
              <a:rPr lang="en-US" sz="1000" dirty="0">
                <a:solidFill>
                  <a:srgbClr val="1A202C"/>
                </a:solidFill>
                <a:latin typeface="Arial" pitchFamily="34" charset="0"/>
                <a:ea typeface="Arial" pitchFamily="34" charset="-122"/>
                <a:cs typeface="Arial" pitchFamily="34" charset="-120"/>
              </a:rPr>
              <a:t>STT : ...autocards Figsbus vers 7h10...</a:t>
            </a:r>
            <a:endParaRPr lang="en-US" sz="1000" dirty="0"/>
          </a:p>
        </p:txBody>
      </p:sp>
      <p:sp>
        <p:nvSpPr>
          <p:cNvPr id="9" name="Text 7"/>
          <p:cNvSpPr/>
          <p:nvPr/>
        </p:nvSpPr>
        <p:spPr>
          <a:xfrm>
            <a:off x="365760" y="4800600"/>
            <a:ext cx="8412480" cy="274320"/>
          </a:xfrm>
          <a:prstGeom prst="rect">
            <a:avLst/>
          </a:prstGeom>
          <a:noFill/>
          <a:ln/>
        </p:spPr>
        <p:txBody>
          <a:bodyPr wrap="square" rtlCol="0" anchor="ctr"/>
          <a:lstStyle/>
          <a:p>
            <a:pPr indent="0" marL="0">
              <a:buNone/>
            </a:pPr>
            <a:r>
              <a:rPr lang="en-US" sz="900" i="1" dirty="0">
                <a:solidFill>
                  <a:srgbClr val="64748B"/>
                </a:solidFill>
                <a:latin typeface="Arial" pitchFamily="34" charset="0"/>
                <a:ea typeface="Arial" pitchFamily="34" charset="-122"/>
                <a:cs typeface="Arial" pitchFamily="34" charset="-120"/>
              </a:rPr>
              <a:t>Frames extraites avec OpenCV · Annotation automatique REF (vert) vs STT (rouge) · Prochaine étape : computer vision pour concordance image/parole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E3A5F"/>
          </a:solidFill>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Conclusion &amp; Perspectives</a:t>
            </a:r>
            <a:endParaRPr lang="en-US" sz="2600" dirty="0"/>
          </a:p>
        </p:txBody>
      </p:sp>
      <p:sp>
        <p:nvSpPr>
          <p:cNvPr id="4" name="Shape 2"/>
          <p:cNvSpPr/>
          <p:nvPr/>
        </p:nvSpPr>
        <p:spPr>
          <a:xfrm>
            <a:off x="274320" y="960120"/>
            <a:ext cx="2816352" cy="3886200"/>
          </a:xfrm>
          <a:prstGeom prst="rect">
            <a:avLst/>
          </a:prstGeom>
          <a:solidFill>
            <a:srgbClr val="F4F6FA"/>
          </a:solidFill>
          <a:ln w="12700">
            <a:solidFill>
              <a:srgbClr val="10B981"/>
            </a:solidFill>
            <a:prstDash val="solid"/>
          </a:ln>
        </p:spPr>
      </p:sp>
      <p:sp>
        <p:nvSpPr>
          <p:cNvPr id="5" name="Shape 3"/>
          <p:cNvSpPr/>
          <p:nvPr/>
        </p:nvSpPr>
        <p:spPr>
          <a:xfrm>
            <a:off x="274320" y="960120"/>
            <a:ext cx="2816352" cy="438912"/>
          </a:xfrm>
          <a:prstGeom prst="rect">
            <a:avLst/>
          </a:prstGeom>
          <a:solidFill>
            <a:srgbClr val="10B981"/>
          </a:solidFill>
          <a:ln/>
        </p:spPr>
      </p:sp>
      <p:sp>
        <p:nvSpPr>
          <p:cNvPr id="6" name="Text 4"/>
          <p:cNvSpPr/>
          <p:nvPr/>
        </p:nvSpPr>
        <p:spPr>
          <a:xfrm>
            <a:off x="274320" y="960120"/>
            <a:ext cx="2816352" cy="43891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Ce qui a été fait</a:t>
            </a:r>
            <a:endParaRPr lang="en-US" sz="1200" dirty="0"/>
          </a:p>
        </p:txBody>
      </p:sp>
      <p:sp>
        <p:nvSpPr>
          <p:cNvPr id="7" name="Text 5"/>
          <p:cNvSpPr/>
          <p:nvPr/>
        </p:nvSpPr>
        <p:spPr>
          <a:xfrm>
            <a:off x="384048" y="1481328"/>
            <a:ext cx="2596896" cy="3246120"/>
          </a:xfrm>
          <a:prstGeom prst="rect">
            <a:avLst/>
          </a:prstGeom>
          <a:noFill/>
          <a:ln/>
        </p:spPr>
        <p:txBody>
          <a:bodyPr wrap="square" rtlCol="0" anchor="t"/>
          <a:lstStyle/>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Pipeline Python complet : yt-dlp → Whisper → WER/CER → Wildmoka</a:t>
            </a:r>
            <a:endParaRPr lang="en-US" sz="1000" dirty="0"/>
          </a:p>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19 segments analysés · WER 22.8% (Whisper) vs 7.2% (CC YouTube)</a:t>
            </a:r>
            <a:endParaRPr lang="en-US" sz="1000" dirty="0"/>
          </a:p>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8 clips Wildmoka avec timestamps pour révision humaine</a:t>
            </a:r>
            <a:endParaRPr lang="en-US" sz="1000" dirty="0"/>
          </a:p>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Dashboard Excel 4 onglets + PNG + frames vidéo réelles (OpenCV)</a:t>
            </a:r>
            <a:endParaRPr lang="en-US" sz="1000" dirty="0"/>
          </a:p>
        </p:txBody>
      </p:sp>
      <p:sp>
        <p:nvSpPr>
          <p:cNvPr id="8" name="Shape 6"/>
          <p:cNvSpPr/>
          <p:nvPr/>
        </p:nvSpPr>
        <p:spPr>
          <a:xfrm>
            <a:off x="3227832" y="960120"/>
            <a:ext cx="2816352" cy="3886200"/>
          </a:xfrm>
          <a:prstGeom prst="rect">
            <a:avLst/>
          </a:prstGeom>
          <a:solidFill>
            <a:srgbClr val="F4F6FA"/>
          </a:solidFill>
          <a:ln w="12700">
            <a:solidFill>
              <a:srgbClr val="F97316"/>
            </a:solidFill>
            <a:prstDash val="solid"/>
          </a:ln>
        </p:spPr>
      </p:sp>
      <p:sp>
        <p:nvSpPr>
          <p:cNvPr id="9" name="Shape 7"/>
          <p:cNvSpPr/>
          <p:nvPr/>
        </p:nvSpPr>
        <p:spPr>
          <a:xfrm>
            <a:off x="3227832" y="960120"/>
            <a:ext cx="2816352" cy="438912"/>
          </a:xfrm>
          <a:prstGeom prst="rect">
            <a:avLst/>
          </a:prstGeom>
          <a:solidFill>
            <a:srgbClr val="F97316"/>
          </a:solidFill>
          <a:ln/>
        </p:spPr>
      </p:sp>
      <p:sp>
        <p:nvSpPr>
          <p:cNvPr id="10" name="Text 8"/>
          <p:cNvSpPr/>
          <p:nvPr/>
        </p:nvSpPr>
        <p:spPr>
          <a:xfrm>
            <a:off x="3227832" y="960120"/>
            <a:ext cx="2816352" cy="43891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Limites identifiées</a:t>
            </a:r>
            <a:endParaRPr lang="en-US" sz="1200" dirty="0"/>
          </a:p>
        </p:txBody>
      </p:sp>
      <p:sp>
        <p:nvSpPr>
          <p:cNvPr id="11" name="Text 9"/>
          <p:cNvSpPr/>
          <p:nvPr/>
        </p:nvSpPr>
        <p:spPr>
          <a:xfrm>
            <a:off x="3337560" y="1481328"/>
            <a:ext cx="2596896" cy="3246120"/>
          </a:xfrm>
          <a:prstGeom prst="rect">
            <a:avLst/>
          </a:prstGeom>
          <a:noFill/>
          <a:ln/>
        </p:spPr>
        <p:txBody>
          <a:bodyPr wrap="square" rtlCol="0" anchor="t"/>
          <a:lstStyle/>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Whisper 'base' : rapide mais imprécis — large-v3 → WER ~14%</a:t>
            </a:r>
            <a:endParaRPr lang="en-US" sz="1000" dirty="0"/>
          </a:p>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WER sensible à la ponctuation (légère sur-estimation)</a:t>
            </a:r>
            <a:endParaRPr lang="en-US" sz="1000" dirty="0"/>
          </a:p>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Frames annotées mais pas de computer vision réelle</a:t>
            </a:r>
            <a:endParaRPr lang="en-US" sz="1000" dirty="0"/>
          </a:p>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JSON Wildmoka simulé — pas d'intégration API réelle</a:t>
            </a:r>
            <a:endParaRPr lang="en-US" sz="1000" dirty="0"/>
          </a:p>
        </p:txBody>
      </p:sp>
      <p:sp>
        <p:nvSpPr>
          <p:cNvPr id="12" name="Shape 10"/>
          <p:cNvSpPr/>
          <p:nvPr/>
        </p:nvSpPr>
        <p:spPr>
          <a:xfrm>
            <a:off x="6181344" y="960120"/>
            <a:ext cx="2816352" cy="3886200"/>
          </a:xfrm>
          <a:prstGeom prst="rect">
            <a:avLst/>
          </a:prstGeom>
          <a:solidFill>
            <a:srgbClr val="F4F6FA"/>
          </a:solidFill>
          <a:ln w="12700">
            <a:solidFill>
              <a:srgbClr val="0EA5E9"/>
            </a:solidFill>
            <a:prstDash val="solid"/>
          </a:ln>
        </p:spPr>
      </p:sp>
      <p:sp>
        <p:nvSpPr>
          <p:cNvPr id="13" name="Shape 11"/>
          <p:cNvSpPr/>
          <p:nvPr/>
        </p:nvSpPr>
        <p:spPr>
          <a:xfrm>
            <a:off x="6181344" y="960120"/>
            <a:ext cx="2816352" cy="438912"/>
          </a:xfrm>
          <a:prstGeom prst="rect">
            <a:avLst/>
          </a:prstGeom>
          <a:solidFill>
            <a:srgbClr val="0EA5E9"/>
          </a:solidFill>
          <a:ln/>
        </p:spPr>
      </p:sp>
      <p:sp>
        <p:nvSpPr>
          <p:cNvPr id="14" name="Text 12"/>
          <p:cNvSpPr/>
          <p:nvPr/>
        </p:nvSpPr>
        <p:spPr>
          <a:xfrm>
            <a:off x="6181344" y="960120"/>
            <a:ext cx="2816352" cy="43891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Étapes suivantes</a:t>
            </a:r>
            <a:endParaRPr lang="en-US" sz="1200" dirty="0"/>
          </a:p>
        </p:txBody>
      </p:sp>
      <p:sp>
        <p:nvSpPr>
          <p:cNvPr id="15" name="Text 13"/>
          <p:cNvSpPr/>
          <p:nvPr/>
        </p:nvSpPr>
        <p:spPr>
          <a:xfrm>
            <a:off x="6291072" y="1481328"/>
            <a:ext cx="2596896" cy="3246120"/>
          </a:xfrm>
          <a:prstGeom prst="rect">
            <a:avLst/>
          </a:prstGeom>
          <a:noFill/>
          <a:ln/>
        </p:spPr>
        <p:txBody>
          <a:bodyPr wrap="square" rtlCol="0" anchor="t"/>
          <a:lstStyle/>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Tester Whisper large-v3 ou faster-whisper</a:t>
            </a:r>
            <a:endParaRPr lang="en-US" sz="1000" dirty="0"/>
          </a:p>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Intégrer l'API Wildmoka réelle pour clipping automatique</a:t>
            </a:r>
            <a:endParaRPr lang="en-US" sz="1000" dirty="0"/>
          </a:p>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Computer vision : concordance image/parole</a:t>
            </a:r>
            <a:endParaRPr lang="en-US" sz="1000" dirty="0"/>
          </a:p>
          <a:p>
            <a:pPr marL="342900" indent="-342900">
              <a:spcAft>
                <a:spcPts val="600"/>
              </a:spcAft>
              <a:buSzPct val="100000"/>
              <a:buChar char="•"/>
            </a:pPr>
            <a:r>
              <a:rPr lang="en-US" sz="1000" dirty="0">
                <a:solidFill>
                  <a:srgbClr val="1A202C"/>
                </a:solidFill>
                <a:latin typeface="Arial" pitchFamily="34" charset="0"/>
                <a:ea typeface="Arial" pitchFamily="34" charset="-122"/>
                <a:cs typeface="Arial" pitchFamily="34" charset="-120"/>
              </a:rPr>
              <a:t>Normaliser WER (ignorer ponctuation) pour résultats plus justes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2026-05-07T20:08:43Z</dcterms:created>
  <dcterms:modified xsi:type="dcterms:W3CDTF">2026-05-07T20:08:43Z</dcterms:modified>
</cp:coreProperties>
</file>